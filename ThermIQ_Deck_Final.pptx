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43000"/>
            <a:ext cx="841248" cy="841248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43000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TQ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10512" y="1088136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ThermIQ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Intelligence for Thermal Power Plants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41248" y="281635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asset &amp; operations brain that makes a plant’s scattered documents queryable — </a:t>
            </a:r>
            <a:pPr indent="0" marL="0">
              <a:lnSpc>
                <a:spcPct val="106000"/>
              </a:lnSpc>
              <a:buNone/>
            </a:pPr>
            <a:r>
              <a:rPr lang="en-US" sz="2100" b="1" i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quantifies undocumented knowledge as financial risk.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41248" y="5029200"/>
            <a:ext cx="10515600" cy="0"/>
          </a:xfrm>
          <a:prstGeom prst="line">
            <a:avLst/>
          </a:prstGeom>
          <a:noFill/>
          <a:ln w="12700">
            <a:solidFill>
              <a:srgbClr val="2C4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523036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·  Problem 8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Industrial Knowledge Intelligence — Unified Asset &amp; Operations Brain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0" y="5230368"/>
            <a:ext cx="3584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Yaminichandra K J</a:t>
            </a:r>
            <a:endParaRPr lang="en-US" sz="14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Amritsar (IPM)  ·  therm-iq.vercel.app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Industrial Knowledge Gap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5989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Asset-intensive plants run on knowledge scattered across P&amp;IDs, maintenance logs, operating procedures, inspection reports and regulatory filings — typically 7–12 disconnected systems per plant. Much of the critical operating judgement is never written down at all; it lives in the heads of senior engineers.</a:t>
            </a:r>
            <a:endParaRPr lang="en-US" sz="1400" dirty="0"/>
          </a:p>
          <a:p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threefold: hours lost re-finding or recreating information, unplanned downtime from decisions made without full equipment history, and a looming knowledge cliff as experienced staff retire and take undocumented expertise with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224528"/>
            <a:ext cx="5989320" cy="1234440"/>
          </a:xfrm>
          <a:prstGeom prst="roundRect">
            <a:avLst>
              <a:gd name="adj" fmla="val 5185"/>
            </a:avLst>
          </a:prstGeom>
          <a:solidFill>
            <a:srgbClr val="FBF1E7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224528"/>
            <a:ext cx="5577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i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 document-management problem. </a:t>
            </a:r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safety, quality and operational-efficiency problem — and it compounds every year it is left unsolved, across India’s 200+ GW coal fleet.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0" y="1481328"/>
            <a:ext cx="2395728" cy="1938528"/>
          </a:xfrm>
          <a:prstGeom prst="roundRect">
            <a:avLst>
              <a:gd name="adj" fmla="val 330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60934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31152" y="228600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working hours spent searching for or recreating documents that already exist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31152" y="310896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McKinsey, 2024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326880" y="1481328"/>
            <a:ext cx="2395728" cy="1938528"/>
          </a:xfrm>
          <a:prstGeom prst="roundRect">
            <a:avLst>
              <a:gd name="adj" fmla="val 330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160934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491472" y="228600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document systems in the average large plant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491472" y="310896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NASSCOM–EY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3584448"/>
            <a:ext cx="2395728" cy="1938528"/>
          </a:xfrm>
          <a:prstGeom prst="roundRect">
            <a:avLst>
              <a:gd name="adj" fmla="val 330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71246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18–22%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31152" y="438912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unplanned downtime events linked to knowledge fragmentation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31152" y="521208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Research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26880" y="3584448"/>
            <a:ext cx="2395728" cy="1938528"/>
          </a:xfrm>
          <a:prstGeom prst="roundRect">
            <a:avLst>
              <a:gd name="adj" fmla="val 330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3712464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491472" y="438912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experienced engineers retiring within the next decade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91472" y="521208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estimate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Asset &amp; Operations Brain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ThermIQ ingests a plant’s heterogeneous documents — text and scanned PDFs (via OCR), spreadsheets, and Google Drive folders — into one searchable knowledge base, then layers four capabilities on top. Its defining move: it does not only retrieve what is documented, </a:t>
            </a:r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detects and prices what is missing.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57860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1E3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55117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Copilot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English; get direct, cited answers drawn from the plant’s own documents and the benchmark standards.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2395728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257860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1E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9944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14032" y="255117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Knowledge-Gap Detection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114032" y="288036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plant’s corpus against a benchmark of what should be documented, flagging what is absent or only partial.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9319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1E33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90448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Quantification Dashboard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371600" y="423367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every gap into rupee-crore operational risk, ranked, with a suggested closure order and a one-click Excel export.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45352" y="3749040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393192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1E3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9944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14032" y="390448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114032" y="423367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failure modes to real historical outage cost and the regulations that mandate the missing procedure.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5285232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BF1E7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528523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ingestion pipeline, one live backend, one risk model.  </a:t>
            </a:r>
            <a:pPr indent="0" marL="0">
              <a:buNone/>
            </a:pPr>
            <a:r>
              <a:rPr lang="en-US" sz="1400" i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modules are views on the same data — not four separate demos.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 ·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Knowledge Retrieval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" y="1449324"/>
            <a:ext cx="6464808" cy="325642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BC">
                <a:alpha val="40000"/>
              </a:srgbClr>
            </a:outerShdw>
          </a:effectLst>
        </p:spPr>
      </p:sp>
      <p:pic>
        <p:nvPicPr>
          <p:cNvPr id="7" name="Image 0" descr="/sessions/fervent-compassionate-franklin/mnt/ET AI Hackathon/deck_assets/05b_query_copilot_cited_answ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400800" cy="31924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820051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4820051"/>
            <a:ext cx="6071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AI embeddings · Qdrant vector search · Gemini 2.5 Flash · agentic tool-calling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5514995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an NTPC plant profile: the assistant returns the top gaps with ₹ exposure and the regulation mandating each.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178040" y="153162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2" name="Text 9"/>
          <p:cNvSpPr/>
          <p:nvPr/>
        </p:nvSpPr>
        <p:spPr>
          <a:xfrm>
            <a:off x="7397496" y="143560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procedure, spec or failure mode — a direct, cited answer in seconds, no keyword hunting.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78040" y="235458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4" name="Text 11"/>
          <p:cNvSpPr/>
          <p:nvPr/>
        </p:nvSpPr>
        <p:spPr>
          <a:xfrm>
            <a:off x="7397496" y="225856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meaning, not words.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matches intent even when the wording differs (Jina AI + Qdrant).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78040" y="317754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6" name="Text 13"/>
          <p:cNvSpPr/>
          <p:nvPr/>
        </p:nvSpPr>
        <p:spPr>
          <a:xfrm>
            <a:off x="7397496" y="308152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you can trust.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separates benchmark standards from the plant’s own documents, with source citations and a confidence signal.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178040" y="400050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8" name="Text 15"/>
          <p:cNvSpPr/>
          <p:nvPr/>
        </p:nvSpPr>
        <p:spPr>
          <a:xfrm>
            <a:off x="7397496" y="390448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look up.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tool-use picks between document search, the live risk register, real outage records, or the web.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178040" y="482346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20" name="Text 17"/>
          <p:cNvSpPr/>
          <p:nvPr/>
        </p:nvSpPr>
        <p:spPr>
          <a:xfrm>
            <a:off x="7397496" y="472744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four-model fallback chain (Gemini → NVIDIA NIM → OpenRouter) keeps it answering under free-tier limits.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178040" y="564642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22" name="Text 19"/>
          <p:cNvSpPr/>
          <p:nvPr/>
        </p:nvSpPr>
        <p:spPr>
          <a:xfrm>
            <a:off x="7397496" y="555040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next step.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memory, one-click follow-up suggestions, and a jump straight into the knowledge graph.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 ·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Knowledge Gaps as Financial Risk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0E1E3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304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Criticality </a:t>
            </a:r>
            <a:pPr algn="ctr" indent="0" marL="0">
              <a:buNone/>
            </a:pPr>
            <a:r>
              <a:rPr lang="en-US" sz="1500" b="1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severe, 1–5)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×   Consequence </a:t>
            </a:r>
            <a:pPr algn="ctr" indent="0" marL="0">
              <a:buNone/>
            </a:pPr>
            <a:r>
              <a:rPr lang="en-US" sz="1500" b="1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 Cr lost per outage)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×   Exposure </a:t>
            </a:r>
            <a:pPr algn="ctr" indent="0" marL="0">
              <a:buNone/>
            </a:pPr>
            <a:r>
              <a:rPr lang="en-US" sz="1500" b="1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undocumented, 0–1)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286000" y="226771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from CEA forced-outage frequency and CERC regulations — evidence, not opinion. (e.g. boiler failures lead forced outages; Vasudha 2022, 735 units.)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286000" y="310896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revenue lost when this fails, computed from CEA daily outage records at ₹5/kWh (LBNL/Ember, 2024).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96849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286000" y="3950208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poorly the plant documents this topic — the gap between the question and the plant’s own documents (Jina AI similarity).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942332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4846320"/>
            <a:ext cx="6181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19-item expert checklist.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well-run plant should document — scored automatically against each plant’s corpus.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50926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" y="5413248"/>
            <a:ext cx="6181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rupee impact.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ordered by ₹ exposure, with coverage status and a recommended closure sequence.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6076188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5980176"/>
            <a:ext cx="61813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output.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themed Excel export of the full risk register, per plant.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46036" y="2253996"/>
            <a:ext cx="4572000" cy="24928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BC">
                <a:alpha val="40000"/>
              </a:srgbClr>
            </a:outerShdw>
          </a:effectLst>
        </p:spPr>
      </p:sp>
      <p:pic>
        <p:nvPicPr>
          <p:cNvPr id="21" name="Image 0" descr="/sessions/fervent-compassionate-franklin/mnt/ET AI Hackathon/deck_assets/05c_risk_dashboard_gap_tab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286000"/>
            <a:ext cx="4507992" cy="2428875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178040" y="4842891"/>
            <a:ext cx="4507992" cy="1051560"/>
          </a:xfrm>
          <a:prstGeom prst="roundRect">
            <a:avLst>
              <a:gd name="adj" fmla="val 5217"/>
            </a:avLst>
          </a:prstGeom>
          <a:solidFill>
            <a:srgbClr val="FBF1E7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60920" y="4842891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7000"/>
              </a:lnSpc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(NTPC profile).  </a:t>
            </a:r>
            <a:pPr indent="0" marL="0">
              <a:lnSpc>
                <a:spcPct val="97000"/>
              </a:lnSpc>
              <a:buNone/>
            </a:pPr>
            <a:r>
              <a:rPr lang="en-US" sz="11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surfaces 19 gaps totalling ₹416.4 Cr of exposure — every figure traceable to its CEA / CERC source. The same engine runs unchanged on any plant’s documents.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 ·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Failure-Mode-to-Regulation Traceability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" y="1449324"/>
            <a:ext cx="6464808" cy="325642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BC">
                <a:alpha val="40000"/>
              </a:srgbClr>
            </a:outerShdw>
          </a:effectLst>
        </p:spPr>
      </p:sp>
      <p:pic>
        <p:nvPicPr>
          <p:cNvPr id="7" name="Image 0" descr="/sessions/fervent-compassionate-franklin/mnt/ET AI Hackathon/deck_assets/08_knowledge_graph_travers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6400800" cy="31924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820051"/>
            <a:ext cx="6400800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4820051"/>
            <a:ext cx="60716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knowledge graph · equipment → failure mode → outage event → regulation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78040" y="153162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1" name="Text 8"/>
          <p:cNvSpPr/>
          <p:nvPr/>
        </p:nvSpPr>
        <p:spPr>
          <a:xfrm>
            <a:off x="7397496" y="143560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map, not a list.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graph (Neo4j) connects equipment, failure modes, real outage events and the regulations that govern them.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178040" y="244602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3" name="Text 10"/>
          <p:cNvSpPr/>
          <p:nvPr/>
        </p:nvSpPr>
        <p:spPr>
          <a:xfrm>
            <a:off x="7397496" y="235000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trace.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flagged failure mode to see how severe it is, how much it has already cost across the fleet, and which rule mandates documenting it.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178040" y="3360420"/>
            <a:ext cx="91440" cy="91440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15" name="Text 12"/>
          <p:cNvSpPr/>
          <p:nvPr/>
        </p:nvSpPr>
        <p:spPr>
          <a:xfrm>
            <a:off x="7397496" y="3264408"/>
            <a:ext cx="4288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number into evidence.  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₹ figure becomes an auditable chain a plant or auditor can defend.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178040" y="4343400"/>
            <a:ext cx="4507992" cy="1828800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60920" y="4480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TRACE  ·  NTPC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60920" y="482803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Waterwall tube thinning  </a:t>
            </a:r>
            <a:pPr indent="0" marL="0"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PARTIAL · criticality 5/5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360920" y="5248656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real CEA outage records  </a:t>
            </a:r>
            <a:pPr indent="0" marL="0"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₹211.85 Cr already lost across the fleet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360920" y="566928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by  </a:t>
            </a:r>
            <a:pPr indent="0" marL="0"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 STS 500 MW + Indian Boiler Regulations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Data Flow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45636" y="1449324"/>
            <a:ext cx="7790688" cy="482474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9BC">
                <a:alpha val="40000"/>
              </a:srgbClr>
            </a:outerShdw>
          </a:effectLst>
        </p:spPr>
      </p:sp>
      <p:pic>
        <p:nvPicPr>
          <p:cNvPr id="7" name="Image 0" descr="/sessions/fervent-compassionate-franklin/mnt/ET AI Hackathon/deck_assets/06_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481328"/>
            <a:ext cx="7726680" cy="47607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5179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1755648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web app (GitHub Pages + Vercel); works on desktop and field mobile.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212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2450592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serverless functions on Vercel.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2907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docs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3145536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AI turns text into vectors; Qdrant searches them by meaning.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3602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3840480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Flash, with NVIDIA NIM + OpenRouter as automatic backups.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4297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structure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4535424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(risk register, outage data) · Neo4j (knowledge graph).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49926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5230368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pipelines chunk &amp; embed PDFs, run OCR on scans, and score gaps.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5687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5925312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refresh CEA outage data and re-scan gaps on a schedule.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977640" y="5989320"/>
            <a:ext cx="7726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CEA standards &amp; outage reports form the fixed benchmark; each plant’s own uploaded documents form the client corpus measured against it.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ThermIQ Apart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627632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the absence of knowledge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4088" y="1984248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retrieve what is written down. ThermIQ scores what is missing and puts a rupee value on it — reframing documentation from a compliance chore into a capital-allocation decision.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352" y="1481328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27632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data, end to end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1984248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figure traces to actual CEA outage records and CERC regulation — no invented benchmarks or fabricated accuracy claims.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255264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Benchmark-vs-client architecture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4088" y="3611880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CEA standards are the fixed yardstick; each plant’s own SOPs are measured against it — so onboarding a new plant needs zero re-engineering.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310896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255264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 by design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3611880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plant is an isolated profile with its own corpus and scores (namespacing) — demonstrated across separate NTPC and Saraighat profiles.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736592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882896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by construction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04088" y="5239512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four-model answer-generation fallback chain keeps the copilot live under free-tier limits; the graph auto-recovers via a scheduled keep-alive.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5352" y="4736592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882896"/>
            <a:ext cx="5038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by default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5239512"/>
            <a:ext cx="50383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and answer carries its source, so a plant manager can defend it — for instance, in a CERC tariff petition.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02336"/>
            <a:ext cx="10881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Today · Limitations · Roadmap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44752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62763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6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22376" y="2103120"/>
            <a:ext cx="3172968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267712"/>
            <a:ext cx="3099816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 with five working views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copilot with source citations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19-item gap-scoring engine (v3)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 risk register, ranked &amp; exportable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with click-through traversal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Per-plant profiles (NTPC, Saraighat)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CEA-ingest &amp; gap-scan pipelines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4288536" y="1444752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6510">
            <a:solidFill>
              <a:srgbClr val="D97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62763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0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6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507992" y="2103120"/>
            <a:ext cx="3172968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267712"/>
            <a:ext cx="3099816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spec (BMD-01) unreachable from the build network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computer-vision P&amp;ID parsing yet — text + OCR only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hosting caps backend functions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finer v4 scoring engine is built but held back pending human review of two outliers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not yet scored against a formal expert benchmark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074152" y="1444752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EEF2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62763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65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293608" y="2103120"/>
            <a:ext cx="3172968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267712"/>
            <a:ext cx="3099816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parsing of P&amp;IDs and engineering drawings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plants onboarded at full document depth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field-technician view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v4 evidence-graded scoring engine</a:t>
            </a:r>
            <a:endParaRPr lang="en-US" sz="1280" dirty="0"/>
          </a:p>
          <a:p>
            <a:pPr marL="177800" indent="-1778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Expert-benchmarked answer &amp; extraction accuracy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502920" y="5779008"/>
            <a:ext cx="11183112" cy="694944"/>
          </a:xfrm>
          <a:prstGeom prst="roundRect">
            <a:avLst>
              <a:gd name="adj" fmla="val 7895"/>
            </a:avLst>
          </a:prstGeom>
          <a:solidFill>
            <a:srgbClr val="FBF1E7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779008"/>
            <a:ext cx="10789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and honest:  </a:t>
            </a:r>
            <a:pPr indent="0" marL="0">
              <a:buNone/>
            </a:pPr>
            <a:r>
              <a:rPr lang="en-US" sz="1250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is the validated scoring engine running live today. The finer v4 engine and computer-vision drawing parsing are the immediate next milestones — deliberately not overstated as done.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ThermIQ  ·  Problem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68680"/>
            <a:ext cx="118872" cy="603504"/>
          </a:xfrm>
          <a:prstGeom prst="rect">
            <a:avLst/>
          </a:prstGeom>
          <a:solidFill>
            <a:srgbClr val="D97A2B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850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33272" y="10972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intelligence layer for industrial knowledge — buildable today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205740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650" i="1" dirty="0">
                <a:solidFill>
                  <a:srgbClr val="D7E1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ThermIQ answers Problem 8 directly: it ingests heterogeneous industrial documents, makes their collective knowledge queryable with citations, and — uniquely — quantifies what remains undocumented as financial risk, every figure traceable to real regulatory and outage data.</a:t>
            </a:r>
            <a:endParaRPr lang="en-US" sz="16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650" i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result: a plant can see, in rupees, what its knowledge gaps are worth, and close the highest-value ones first.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41248" y="3977640"/>
            <a:ext cx="3364992" cy="1234440"/>
          </a:xfrm>
          <a:prstGeom prst="roundRect">
            <a:avLst>
              <a:gd name="adj" fmla="val 5185"/>
            </a:avLst>
          </a:prstGeom>
          <a:solidFill>
            <a:srgbClr val="16294A"/>
          </a:solidFill>
          <a:ln w="12700">
            <a:solidFill>
              <a:srgbClr val="2C4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4123944"/>
            <a:ext cx="2962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42416" y="448970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 across the full document corpus, for engineers and O&amp;M teams.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3977640"/>
            <a:ext cx="3364992" cy="1234440"/>
          </a:xfrm>
          <a:prstGeom prst="roundRect">
            <a:avLst>
              <a:gd name="adj" fmla="val 5185"/>
            </a:avLst>
          </a:prstGeom>
          <a:solidFill>
            <a:srgbClr val="16294A"/>
          </a:solidFill>
          <a:ln w="12700">
            <a:solidFill>
              <a:srgbClr val="2C4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4123944"/>
            <a:ext cx="2962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448970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knowledge gap priced as ₹-crore operational risk, ranked and sourced.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36992" y="3977640"/>
            <a:ext cx="3364992" cy="1234440"/>
          </a:xfrm>
          <a:prstGeom prst="roundRect">
            <a:avLst>
              <a:gd name="adj" fmla="val 5185"/>
            </a:avLst>
          </a:prstGeom>
          <a:solidFill>
            <a:srgbClr val="16294A"/>
          </a:solidFill>
          <a:ln w="12700">
            <a:solidFill>
              <a:srgbClr val="2C4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4123944"/>
            <a:ext cx="2962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0" y="448970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→ real outage cost → governing regulation, end to end.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" y="5623560"/>
            <a:ext cx="10515600" cy="0"/>
          </a:xfrm>
          <a:prstGeom prst="line">
            <a:avLst/>
          </a:prstGeom>
          <a:noFill/>
          <a:ln w="12700">
            <a:solidFill>
              <a:srgbClr val="2C40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5779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therm-iq.vercel.app</a:t>
            </a:r>
            <a:pPr indent="0" marL="0">
              <a:buNone/>
            </a:pPr>
            <a:r>
              <a:rPr lang="en-US" sz="1300" dirty="0">
                <a:solidFill>
                  <a:srgbClr val="9FB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Source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github.com/GhostUnamused/thermIQ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616305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Yaminichandra K J  ·  IIM Amritsar (IPM)  ·  a research-preview prototype built with AI as a development partner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2026-07-22T16:08:55Z</dcterms:created>
  <dcterms:modified xsi:type="dcterms:W3CDTF">2026-07-22T16:08:55Z</dcterms:modified>
</cp:coreProperties>
</file>