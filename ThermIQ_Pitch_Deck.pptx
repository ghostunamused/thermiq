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pitch: ThermIQ turns a thermal plant's scattered documents into a queryable RAG copilot AND quantifies every knowledge gap as rupee-crore operational risk. Built solo for ET AI Hackathon 2026, Problem 8. Live at therm-iq.vercel.app. Differentiator to land verbally: most teams built a search tool; we price the ABSENCE of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brief's own framing, India-specific. The knowledge cliff is the emotional hook: once a 30-year operator retires undocumented, that judgment is gone. This is why the problem needs a platform, not a folder rename.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pitch in one slide. The reframe from search problem to capital-risk problem maps onto the two heaviest criteria (Innovation 25% + Business Impact 25%). A plant manager can't act on 'you have documentation gaps'; they can act on 'flame-failure SOP gap = Rs 30 Cr exposure, mandated by CEA.'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layers, then stress: single backend, single risk model. The screenshot is the real Operations Console on NTPC (Rs 416.4 Cr, 19 gaps, 1,312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NTPC screenshot. 'Top 3 gaps by rupee risk + mandating regulation' returns Turbine Vibration Rs 42.4 Cr (ISO 7919/10816), Turbine Blade Inspection Rs 38.0 Cr (CEA STS 500MW), Flame Failure SOP Rs 30.1 Cr (NTPC Lara tariff + CEA O&amp;M). Note the 'View in graph'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Each factor is grounded in a cited source. Dashboard shows the per-row audit trail 'crit 5 x Rs 11.8 Cr x 0.49 exp, derived from 18 CEA records.' If asked: ticker Rs 416.4 Cr is all 19 gaps; dashboard card Rs 367 Cr counts only CEA-outage-backed rows. Both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Neo4j-backed. The Rs number isn't asserted, it's traceable: click a flagged failure node and the panel shows the equipment path, the real CEA outages that sum to the figure, and the regulation requiring the missing procedure. Answers the brief's 'knowledge graph linkage' criterion. Live,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on free tiers: Jina embeddings, Qdrant vector DB, Gemini 2.5 Flash with NIM-&gt;OpenRouter fallback cascade so the copilot keeps answering under quota, Firestore for the registry, Neo4j for the graph, GitHub Actions for daily CEA ingest and gap scans. Diagram is the real ThermIQ_Architecture.svg.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score against this rubric, so show them the rubric being answered. Lead with the two 25% criteria where the rupee-quantification framing is strongest.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Leading with limitations builds credibility. Strongest point: v4 scoring engine (dry-run Rs 2,223 Cr) exists but we deliberately shipped the conservative validated v3 rather than a flashier unreviewed number. Research-preview prototype, built solo in under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framing win: a non-engineer built a working, rupee-quantified industrial knowledge platform in under a month. Ask for feedback and a pilot intro.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E33"/>
        </a:solidFill>
      </p:bgPr>
    </p:bg>
    <p:spTree>
      <p:nvGrpSpPr>
        <p:cNvPr id="1" name=""/>
        <p:cNvGrpSpPr/>
        <p:nvPr/>
      </p:nvGrpSpPr>
      <p:grpSpPr>
        <a:xfrm>
          <a:off x="0" y="0"/>
          <a:ext cx="0" cy="0"/>
          <a:chOff x="0" y="0"/>
          <a:chExt cx="0" cy="0"/>
        </a:xfrm>
      </p:grpSpPr>
      <p:sp>
        <p:nvSpPr>
          <p:cNvPr id="2" name="Shape 0"/>
          <p:cNvSpPr/>
          <p:nvPr/>
        </p:nvSpPr>
        <p:spPr>
          <a:xfrm>
            <a:off x="822960" y="1234440"/>
            <a:ext cx="822960" cy="822960"/>
          </a:xfrm>
          <a:prstGeom prst="rect">
            <a:avLst/>
          </a:prstGeom>
          <a:solidFill>
            <a:srgbClr val="E4843A"/>
          </a:solidFill>
          <a:ln/>
        </p:spPr>
      </p:sp>
      <p:sp>
        <p:nvSpPr>
          <p:cNvPr id="3" name="Text 1"/>
          <p:cNvSpPr/>
          <p:nvPr/>
        </p:nvSpPr>
        <p:spPr>
          <a:xfrm>
            <a:off x="822960" y="1234440"/>
            <a:ext cx="822960" cy="822960"/>
          </a:xfrm>
          <a:prstGeom prst="rect">
            <a:avLst/>
          </a:prstGeom>
          <a:noFill/>
          <a:ln/>
        </p:spPr>
        <p:txBody>
          <a:bodyPr wrap="square" rtlCol="0" anchor="ctr"/>
          <a:lstStyle/>
          <a:p>
            <a:pPr algn="ctr" indent="0" marL="0">
              <a:buNone/>
            </a:pPr>
            <a:r>
              <a:rPr lang="en-US" sz="3000" b="1" dirty="0">
                <a:solidFill>
                  <a:srgbClr val="0E1E33"/>
                </a:solidFill>
                <a:latin typeface="Cambria" pitchFamily="34" charset="0"/>
                <a:ea typeface="Cambria" pitchFamily="34" charset="-122"/>
                <a:cs typeface="Cambria" pitchFamily="34" charset="-120"/>
              </a:rPr>
              <a:t>TQ</a:t>
            </a:r>
            <a:endParaRPr lang="en-US" sz="3000" dirty="0"/>
          </a:p>
        </p:txBody>
      </p:sp>
      <p:sp>
        <p:nvSpPr>
          <p:cNvPr id="4" name="Text 2"/>
          <p:cNvSpPr/>
          <p:nvPr/>
        </p:nvSpPr>
        <p:spPr>
          <a:xfrm>
            <a:off x="1783080" y="1188720"/>
            <a:ext cx="9144000" cy="960120"/>
          </a:xfrm>
          <a:prstGeom prst="rect">
            <a:avLst/>
          </a:prstGeom>
          <a:noFill/>
          <a:ln/>
        </p:spPr>
        <p:txBody>
          <a:bodyPr wrap="square"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ThermIQ</a:t>
            </a:r>
            <a:endParaRPr lang="en-US" sz="5600" dirty="0"/>
          </a:p>
        </p:txBody>
      </p:sp>
      <p:sp>
        <p:nvSpPr>
          <p:cNvPr id="5" name="Text 3"/>
          <p:cNvSpPr/>
          <p:nvPr/>
        </p:nvSpPr>
        <p:spPr>
          <a:xfrm>
            <a:off x="868680" y="2331720"/>
            <a:ext cx="10424160" cy="457200"/>
          </a:xfrm>
          <a:prstGeom prst="rect">
            <a:avLst/>
          </a:prstGeom>
          <a:noFill/>
          <a:ln/>
        </p:spPr>
        <p:txBody>
          <a:bodyPr wrap="square" rtlCol="0" anchor="ctr"/>
          <a:lstStyle/>
          <a:p>
            <a:pPr indent="0" marL="0">
              <a:buNone/>
            </a:pPr>
            <a:r>
              <a:rPr lang="en-US" sz="2000" dirty="0">
                <a:solidFill>
                  <a:srgbClr val="C9D6E8"/>
                </a:solidFill>
                <a:latin typeface="Calibri" pitchFamily="34" charset="0"/>
                <a:ea typeface="Calibri" pitchFamily="34" charset="-122"/>
                <a:cs typeface="Calibri" pitchFamily="34" charset="-120"/>
              </a:rPr>
              <a:t>Industrial Knowledge Intelligence for Thermal Power Plants</a:t>
            </a:r>
            <a:endParaRPr lang="en-US" sz="2000" dirty="0"/>
          </a:p>
        </p:txBody>
      </p:sp>
      <p:sp>
        <p:nvSpPr>
          <p:cNvPr id="6" name="Text 4"/>
          <p:cNvSpPr/>
          <p:nvPr/>
        </p:nvSpPr>
        <p:spPr>
          <a:xfrm>
            <a:off x="868680" y="2971800"/>
            <a:ext cx="10058400" cy="822960"/>
          </a:xfrm>
          <a:prstGeom prst="rect">
            <a:avLst/>
          </a:prstGeom>
          <a:noFill/>
          <a:ln/>
        </p:spPr>
        <p:txBody>
          <a:bodyPr wrap="square" rtlCol="0" anchor="ctr"/>
          <a:lstStyle/>
          <a:p>
            <a:pPr indent="0" marL="0">
              <a:lnSpc>
                <a:spcPct val="105000"/>
              </a:lnSpc>
              <a:buNone/>
            </a:pPr>
            <a:r>
              <a:rPr lang="en-US" sz="2400" i="1" dirty="0">
                <a:solidFill>
                  <a:srgbClr val="FFFFFF"/>
                </a:solidFill>
                <a:latin typeface="Cambria" pitchFamily="34" charset="0"/>
                <a:ea typeface="Cambria" pitchFamily="34" charset="-122"/>
                <a:cs typeface="Cambria" pitchFamily="34" charset="-120"/>
              </a:rPr>
              <a:t>Turn a plant’s scattered documents into a queryable operational brain —</a:t>
            </a:r>
            <a:pPr indent="0" marL="0">
              <a:lnSpc>
                <a:spcPct val="105000"/>
              </a:lnSpc>
              <a:buNone/>
            </a:pPr>
            <a:r>
              <a:rPr lang="en-US" sz="2400" b="1" i="1" dirty="0">
                <a:solidFill>
                  <a:srgbClr val="F2A65A"/>
                </a:solidFill>
                <a:latin typeface="Cambria" pitchFamily="34" charset="0"/>
                <a:ea typeface="Cambria" pitchFamily="34" charset="-122"/>
                <a:cs typeface="Cambria" pitchFamily="34" charset="-120"/>
              </a:rPr>
              <a:t> and price what it doesn’t know, in ₹ crore.</a:t>
            </a:r>
            <a:endParaRPr lang="en-US" sz="2400" dirty="0"/>
          </a:p>
        </p:txBody>
      </p:sp>
      <p:sp>
        <p:nvSpPr>
          <p:cNvPr id="7" name="Shape 5"/>
          <p:cNvSpPr/>
          <p:nvPr/>
        </p:nvSpPr>
        <p:spPr>
          <a:xfrm>
            <a:off x="868680" y="5074920"/>
            <a:ext cx="10469880" cy="0"/>
          </a:xfrm>
          <a:prstGeom prst="line">
            <a:avLst/>
          </a:prstGeom>
          <a:noFill/>
          <a:ln w="12700">
            <a:solidFill>
              <a:srgbClr val="2C405B"/>
            </a:solidFill>
            <a:prstDash val="solid"/>
          </a:ln>
        </p:spPr>
      </p:sp>
      <p:sp>
        <p:nvSpPr>
          <p:cNvPr id="8" name="Text 6"/>
          <p:cNvSpPr/>
          <p:nvPr/>
        </p:nvSpPr>
        <p:spPr>
          <a:xfrm>
            <a:off x="868680" y="5257800"/>
            <a:ext cx="6583680" cy="8229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Problem 8 · ET AI Hackathon 2026</a:t>
            </a:r>
            <a:endParaRPr lang="en-US" sz="1500" dirty="0"/>
          </a:p>
          <a:p>
            <a:pPr indent="0" marL="0">
              <a:buNone/>
            </a:pPr>
            <a:r>
              <a:rPr lang="en-US" sz="1300" dirty="0">
                <a:solidFill>
                  <a:srgbClr val="9FB1C9"/>
                </a:solidFill>
                <a:latin typeface="Calibri" pitchFamily="34" charset="0"/>
                <a:ea typeface="Calibri" pitchFamily="34" charset="-122"/>
                <a:cs typeface="Calibri" pitchFamily="34" charset="-120"/>
              </a:rPr>
              <a:t>AI for Industrial Knowledge Intelligence — Unified Asset &amp; Operations Brain</a:t>
            </a:r>
            <a:endParaRPr lang="en-US" sz="1500" dirty="0"/>
          </a:p>
        </p:txBody>
      </p:sp>
      <p:sp>
        <p:nvSpPr>
          <p:cNvPr id="9" name="Text 7"/>
          <p:cNvSpPr/>
          <p:nvPr/>
        </p:nvSpPr>
        <p:spPr>
          <a:xfrm>
            <a:off x="7680960" y="5257800"/>
            <a:ext cx="3657600" cy="822960"/>
          </a:xfrm>
          <a:prstGeom prst="rect">
            <a:avLst/>
          </a:prstGeom>
          <a:noFill/>
          <a:ln/>
        </p:spPr>
        <p:txBody>
          <a:bodyPr wrap="square" rtlCol="0" anchor="ctr"/>
          <a:lstStyle/>
          <a:p>
            <a:pPr algn="r" indent="0" marL="0">
              <a:buNone/>
            </a:pPr>
            <a:r>
              <a:rPr lang="en-US" sz="1500" b="1" dirty="0">
                <a:solidFill>
                  <a:srgbClr val="FFFFFF"/>
                </a:solidFill>
                <a:latin typeface="Calibri" pitchFamily="34" charset="0"/>
                <a:ea typeface="Calibri" pitchFamily="34" charset="-122"/>
                <a:cs typeface="Calibri" pitchFamily="34" charset="-120"/>
              </a:rPr>
              <a:t>YC · IIM Amritsar (IPM)</a:t>
            </a:r>
            <a:endParaRPr lang="en-US" sz="1500" dirty="0"/>
          </a:p>
          <a:p>
            <a:pPr algn="r" indent="0" marL="0">
              <a:buNone/>
            </a:pPr>
            <a:r>
              <a:rPr lang="en-US" sz="1300" dirty="0">
                <a:solidFill>
                  <a:srgbClr val="F2A65A"/>
                </a:solidFill>
                <a:latin typeface="Calibri" pitchFamily="34" charset="0"/>
                <a:ea typeface="Calibri" pitchFamily="34" charset="-122"/>
                <a:cs typeface="Calibri" pitchFamily="34" charset="-120"/>
              </a:rPr>
              <a:t>therm-iq.vercel.app</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128016" cy="384048"/>
          </a:xfrm>
          <a:prstGeom prst="rect">
            <a:avLst/>
          </a:prstGeom>
          <a:solidFill>
            <a:srgbClr val="E4843A"/>
          </a:solidFill>
          <a:ln/>
        </p:spPr>
      </p:sp>
      <p:sp>
        <p:nvSpPr>
          <p:cNvPr id="3" name="Text 1"/>
          <p:cNvSpPr/>
          <p:nvPr/>
        </p:nvSpPr>
        <p:spPr>
          <a:xfrm>
            <a:off x="804672" y="493776"/>
            <a:ext cx="10607040" cy="256032"/>
          </a:xfrm>
          <a:prstGeom prst="rect">
            <a:avLst/>
          </a:prstGeom>
          <a:noFill/>
          <a:ln/>
        </p:spPr>
        <p:txBody>
          <a:bodyPr wrap="square" rtlCol="0" anchor="ctr"/>
          <a:lstStyle/>
          <a:p>
            <a:pPr indent="0" marL="0">
              <a:buNone/>
            </a:pPr>
            <a:r>
              <a:rPr lang="en-US" sz="1200" b="1" spc="200" kern="0" dirty="0">
                <a:solidFill>
                  <a:srgbClr val="E4843A"/>
                </a:solidFill>
                <a:latin typeface="Calibri" pitchFamily="34" charset="0"/>
                <a:ea typeface="Calibri" pitchFamily="34" charset="-122"/>
                <a:cs typeface="Calibri" pitchFamily="34" charset="-120"/>
              </a:rPr>
              <a:t>THE PROBLEM</a:t>
            </a:r>
            <a:endParaRPr lang="en-US" sz="1200" dirty="0"/>
          </a:p>
        </p:txBody>
      </p:sp>
      <p:sp>
        <p:nvSpPr>
          <p:cNvPr id="4" name="Text 2"/>
          <p:cNvSpPr/>
          <p:nvPr/>
        </p:nvSpPr>
        <p:spPr>
          <a:xfrm>
            <a:off x="786384" y="731520"/>
            <a:ext cx="10789920" cy="658368"/>
          </a:xfrm>
          <a:prstGeom prst="rect">
            <a:avLst/>
          </a:prstGeom>
          <a:noFill/>
          <a:ln/>
        </p:spPr>
        <p:txBody>
          <a:bodyPr wrap="square" rtlCol="0" anchor="ctr"/>
          <a:lstStyle/>
          <a:p>
            <a:pPr indent="0" marL="0">
              <a:buNone/>
            </a:pPr>
            <a:r>
              <a:rPr lang="en-US" sz="3000" b="1" dirty="0">
                <a:solidFill>
                  <a:srgbClr val="16283F"/>
                </a:solidFill>
                <a:latin typeface="Cambria" pitchFamily="34" charset="0"/>
                <a:ea typeface="Cambria" pitchFamily="34" charset="-122"/>
                <a:cs typeface="Cambria" pitchFamily="34" charset="-120"/>
              </a:rPr>
              <a:t>Knowledge is fragmented — and it’s walking out the door</a:t>
            </a:r>
            <a:endParaRPr lang="en-US" sz="3000" dirty="0"/>
          </a:p>
        </p:txBody>
      </p:sp>
      <p:sp>
        <p:nvSpPr>
          <p:cNvPr id="5" name="Shape 3"/>
          <p:cNvSpPr/>
          <p:nvPr/>
        </p:nvSpPr>
        <p:spPr>
          <a:xfrm>
            <a:off x="566928" y="1691640"/>
            <a:ext cx="2688336" cy="3246120"/>
          </a:xfrm>
          <a:prstGeom prst="roundRect">
            <a:avLst>
              <a:gd name="adj" fmla="val 2721"/>
            </a:avLst>
          </a:prstGeom>
          <a:solidFill>
            <a:srgbClr val="EEF2F7"/>
          </a:solidFill>
          <a:ln w="12700">
            <a:solidFill>
              <a:srgbClr val="D5DEE8"/>
            </a:solidFill>
            <a:prstDash val="solid"/>
          </a:ln>
        </p:spPr>
      </p:sp>
      <p:sp>
        <p:nvSpPr>
          <p:cNvPr id="6" name="Text 4"/>
          <p:cNvSpPr/>
          <p:nvPr/>
        </p:nvSpPr>
        <p:spPr>
          <a:xfrm>
            <a:off x="585216" y="1947672"/>
            <a:ext cx="2651760" cy="868680"/>
          </a:xfrm>
          <a:prstGeom prst="rect">
            <a:avLst/>
          </a:prstGeom>
          <a:noFill/>
          <a:ln/>
        </p:spPr>
        <p:txBody>
          <a:bodyPr wrap="square" rtlCol="0" anchor="ctr"/>
          <a:lstStyle/>
          <a:p>
            <a:pPr algn="ctr" indent="0" marL="0">
              <a:buNone/>
            </a:pPr>
            <a:r>
              <a:rPr lang="en-US" sz="4000" b="1" dirty="0">
                <a:solidFill>
                  <a:srgbClr val="E4843A"/>
                </a:solidFill>
                <a:latin typeface="Cambria" pitchFamily="34" charset="0"/>
                <a:ea typeface="Cambria" pitchFamily="34" charset="-122"/>
                <a:cs typeface="Cambria" pitchFamily="34" charset="-120"/>
              </a:rPr>
              <a:t>35%</a:t>
            </a:r>
            <a:endParaRPr lang="en-US" sz="4000" dirty="0"/>
          </a:p>
        </p:txBody>
      </p:sp>
      <p:sp>
        <p:nvSpPr>
          <p:cNvPr id="7" name="Text 5"/>
          <p:cNvSpPr/>
          <p:nvPr/>
        </p:nvSpPr>
        <p:spPr>
          <a:xfrm>
            <a:off x="786384" y="2926080"/>
            <a:ext cx="2249424" cy="1417320"/>
          </a:xfrm>
          <a:prstGeom prst="rect">
            <a:avLst/>
          </a:prstGeom>
          <a:noFill/>
          <a:ln/>
        </p:spPr>
        <p:txBody>
          <a:bodyPr wrap="square" rtlCol="0" anchor="t"/>
          <a:lstStyle/>
          <a:p>
            <a:pPr indent="0" marL="0">
              <a:lnSpc>
                <a:spcPct val="102000"/>
              </a:lnSpc>
              <a:buNone/>
            </a:pPr>
            <a:r>
              <a:rPr lang="en-US" sz="1400" dirty="0">
                <a:solidFill>
                  <a:srgbClr val="16283F"/>
                </a:solidFill>
                <a:latin typeface="Calibri" pitchFamily="34" charset="0"/>
                <a:ea typeface="Calibri" pitchFamily="34" charset="-122"/>
                <a:cs typeface="Calibri" pitchFamily="34" charset="-120"/>
              </a:rPr>
              <a:t>of working hours spent searching for or recreating documents that already exist</a:t>
            </a:r>
            <a:endParaRPr lang="en-US" sz="1400" dirty="0"/>
          </a:p>
        </p:txBody>
      </p:sp>
      <p:sp>
        <p:nvSpPr>
          <p:cNvPr id="8" name="Text 6"/>
          <p:cNvSpPr/>
          <p:nvPr/>
        </p:nvSpPr>
        <p:spPr>
          <a:xfrm>
            <a:off x="786384" y="4553712"/>
            <a:ext cx="2249424" cy="274320"/>
          </a:xfrm>
          <a:prstGeom prst="rect">
            <a:avLst/>
          </a:prstGeom>
          <a:noFill/>
          <a:ln/>
        </p:spPr>
        <p:txBody>
          <a:bodyPr wrap="square" rtlCol="0" anchor="ctr"/>
          <a:lstStyle/>
          <a:p>
            <a:pPr indent="0" marL="0">
              <a:buNone/>
            </a:pPr>
            <a:r>
              <a:rPr lang="en-US" sz="1050" i="1" dirty="0">
                <a:solidFill>
                  <a:srgbClr val="5C6B7E"/>
                </a:solidFill>
                <a:latin typeface="Calibri" pitchFamily="34" charset="0"/>
                <a:ea typeface="Calibri" pitchFamily="34" charset="-122"/>
                <a:cs typeface="Calibri" pitchFamily="34" charset="-120"/>
              </a:rPr>
              <a:t>McKinsey, 2024</a:t>
            </a:r>
            <a:endParaRPr lang="en-US" sz="1050" dirty="0"/>
          </a:p>
        </p:txBody>
      </p:sp>
      <p:sp>
        <p:nvSpPr>
          <p:cNvPr id="9" name="Shape 7"/>
          <p:cNvSpPr/>
          <p:nvPr/>
        </p:nvSpPr>
        <p:spPr>
          <a:xfrm>
            <a:off x="3401568" y="1691640"/>
            <a:ext cx="2688336" cy="3246120"/>
          </a:xfrm>
          <a:prstGeom prst="roundRect">
            <a:avLst>
              <a:gd name="adj" fmla="val 2721"/>
            </a:avLst>
          </a:prstGeom>
          <a:solidFill>
            <a:srgbClr val="EEF2F7"/>
          </a:solidFill>
          <a:ln w="12700">
            <a:solidFill>
              <a:srgbClr val="D5DEE8"/>
            </a:solidFill>
            <a:prstDash val="solid"/>
          </a:ln>
        </p:spPr>
      </p:sp>
      <p:sp>
        <p:nvSpPr>
          <p:cNvPr id="10" name="Text 8"/>
          <p:cNvSpPr/>
          <p:nvPr/>
        </p:nvSpPr>
        <p:spPr>
          <a:xfrm>
            <a:off x="3419856" y="1947672"/>
            <a:ext cx="2651760" cy="868680"/>
          </a:xfrm>
          <a:prstGeom prst="rect">
            <a:avLst/>
          </a:prstGeom>
          <a:noFill/>
          <a:ln/>
        </p:spPr>
        <p:txBody>
          <a:bodyPr wrap="square" rtlCol="0" anchor="ctr"/>
          <a:lstStyle/>
          <a:p>
            <a:pPr algn="ctr" indent="0" marL="0">
              <a:buNone/>
            </a:pPr>
            <a:r>
              <a:rPr lang="en-US" sz="4000" b="1" dirty="0">
                <a:solidFill>
                  <a:srgbClr val="E4843A"/>
                </a:solidFill>
                <a:latin typeface="Cambria" pitchFamily="34" charset="0"/>
                <a:ea typeface="Cambria" pitchFamily="34" charset="-122"/>
                <a:cs typeface="Cambria" pitchFamily="34" charset="-120"/>
              </a:rPr>
              <a:t>7–12</a:t>
            </a:r>
            <a:endParaRPr lang="en-US" sz="4000" dirty="0"/>
          </a:p>
        </p:txBody>
      </p:sp>
      <p:sp>
        <p:nvSpPr>
          <p:cNvPr id="11" name="Text 9"/>
          <p:cNvSpPr/>
          <p:nvPr/>
        </p:nvSpPr>
        <p:spPr>
          <a:xfrm>
            <a:off x="3621024" y="2926080"/>
            <a:ext cx="2249424" cy="1417320"/>
          </a:xfrm>
          <a:prstGeom prst="rect">
            <a:avLst/>
          </a:prstGeom>
          <a:noFill/>
          <a:ln/>
        </p:spPr>
        <p:txBody>
          <a:bodyPr wrap="square" rtlCol="0" anchor="t"/>
          <a:lstStyle/>
          <a:p>
            <a:pPr indent="0" marL="0">
              <a:lnSpc>
                <a:spcPct val="102000"/>
              </a:lnSpc>
              <a:buNone/>
            </a:pPr>
            <a:r>
              <a:rPr lang="en-US" sz="1400" dirty="0">
                <a:solidFill>
                  <a:srgbClr val="16283F"/>
                </a:solidFill>
                <a:latin typeface="Calibri" pitchFamily="34" charset="0"/>
                <a:ea typeface="Calibri" pitchFamily="34" charset="-122"/>
                <a:cs typeface="Calibri" pitchFamily="34" charset="-120"/>
              </a:rPr>
              <a:t>disconnected document systems in the average large Indian plant</a:t>
            </a:r>
            <a:endParaRPr lang="en-US" sz="1400" dirty="0"/>
          </a:p>
        </p:txBody>
      </p:sp>
      <p:sp>
        <p:nvSpPr>
          <p:cNvPr id="12" name="Text 10"/>
          <p:cNvSpPr/>
          <p:nvPr/>
        </p:nvSpPr>
        <p:spPr>
          <a:xfrm>
            <a:off x="3621024" y="4553712"/>
            <a:ext cx="2249424" cy="274320"/>
          </a:xfrm>
          <a:prstGeom prst="rect">
            <a:avLst/>
          </a:prstGeom>
          <a:noFill/>
          <a:ln/>
        </p:spPr>
        <p:txBody>
          <a:bodyPr wrap="square" rtlCol="0" anchor="ctr"/>
          <a:lstStyle/>
          <a:p>
            <a:pPr indent="0" marL="0">
              <a:buNone/>
            </a:pPr>
            <a:r>
              <a:rPr lang="en-US" sz="1050" i="1" dirty="0">
                <a:solidFill>
                  <a:srgbClr val="5C6B7E"/>
                </a:solidFill>
                <a:latin typeface="Calibri" pitchFamily="34" charset="0"/>
                <a:ea typeface="Calibri" pitchFamily="34" charset="-122"/>
                <a:cs typeface="Calibri" pitchFamily="34" charset="-120"/>
              </a:rPr>
              <a:t>NASSCOM–EY</a:t>
            </a:r>
            <a:endParaRPr lang="en-US" sz="1050" dirty="0"/>
          </a:p>
        </p:txBody>
      </p:sp>
      <p:sp>
        <p:nvSpPr>
          <p:cNvPr id="13" name="Shape 11"/>
          <p:cNvSpPr/>
          <p:nvPr/>
        </p:nvSpPr>
        <p:spPr>
          <a:xfrm>
            <a:off x="6236208" y="1691640"/>
            <a:ext cx="2688336" cy="3246120"/>
          </a:xfrm>
          <a:prstGeom prst="roundRect">
            <a:avLst>
              <a:gd name="adj" fmla="val 2721"/>
            </a:avLst>
          </a:prstGeom>
          <a:solidFill>
            <a:srgbClr val="EEF2F7"/>
          </a:solidFill>
          <a:ln w="12700">
            <a:solidFill>
              <a:srgbClr val="D5DEE8"/>
            </a:solidFill>
            <a:prstDash val="solid"/>
          </a:ln>
        </p:spPr>
      </p:sp>
      <p:sp>
        <p:nvSpPr>
          <p:cNvPr id="14" name="Text 12"/>
          <p:cNvSpPr/>
          <p:nvPr/>
        </p:nvSpPr>
        <p:spPr>
          <a:xfrm>
            <a:off x="6254496" y="1947672"/>
            <a:ext cx="2651760" cy="868680"/>
          </a:xfrm>
          <a:prstGeom prst="rect">
            <a:avLst/>
          </a:prstGeom>
          <a:noFill/>
          <a:ln/>
        </p:spPr>
        <p:txBody>
          <a:bodyPr wrap="square" rtlCol="0" anchor="ctr"/>
          <a:lstStyle/>
          <a:p>
            <a:pPr algn="ctr" indent="0" marL="0">
              <a:buNone/>
            </a:pPr>
            <a:r>
              <a:rPr lang="en-US" sz="4000" b="1" dirty="0">
                <a:solidFill>
                  <a:srgbClr val="E4843A"/>
                </a:solidFill>
                <a:latin typeface="Cambria" pitchFamily="34" charset="0"/>
                <a:ea typeface="Cambria" pitchFamily="34" charset="-122"/>
                <a:cs typeface="Cambria" pitchFamily="34" charset="-120"/>
              </a:rPr>
              <a:t>18–22%</a:t>
            </a:r>
            <a:endParaRPr lang="en-US" sz="4000" dirty="0"/>
          </a:p>
        </p:txBody>
      </p:sp>
      <p:sp>
        <p:nvSpPr>
          <p:cNvPr id="15" name="Text 13"/>
          <p:cNvSpPr/>
          <p:nvPr/>
        </p:nvSpPr>
        <p:spPr>
          <a:xfrm>
            <a:off x="6455664" y="2926080"/>
            <a:ext cx="2249424" cy="1417320"/>
          </a:xfrm>
          <a:prstGeom prst="rect">
            <a:avLst/>
          </a:prstGeom>
          <a:noFill/>
          <a:ln/>
        </p:spPr>
        <p:txBody>
          <a:bodyPr wrap="square" rtlCol="0" anchor="t"/>
          <a:lstStyle/>
          <a:p>
            <a:pPr indent="0" marL="0">
              <a:lnSpc>
                <a:spcPct val="102000"/>
              </a:lnSpc>
              <a:buNone/>
            </a:pPr>
            <a:r>
              <a:rPr lang="en-US" sz="1400" dirty="0">
                <a:solidFill>
                  <a:srgbClr val="16283F"/>
                </a:solidFill>
                <a:latin typeface="Calibri" pitchFamily="34" charset="0"/>
                <a:ea typeface="Calibri" pitchFamily="34" charset="-122"/>
                <a:cs typeface="Calibri" pitchFamily="34" charset="-120"/>
              </a:rPr>
              <a:t>of unplanned downtime events driven by this fragmentation</a:t>
            </a:r>
            <a:endParaRPr lang="en-US" sz="1400" dirty="0"/>
          </a:p>
        </p:txBody>
      </p:sp>
      <p:sp>
        <p:nvSpPr>
          <p:cNvPr id="16" name="Text 14"/>
          <p:cNvSpPr/>
          <p:nvPr/>
        </p:nvSpPr>
        <p:spPr>
          <a:xfrm>
            <a:off x="6455664" y="4553712"/>
            <a:ext cx="2249424" cy="274320"/>
          </a:xfrm>
          <a:prstGeom prst="rect">
            <a:avLst/>
          </a:prstGeom>
          <a:noFill/>
          <a:ln/>
        </p:spPr>
        <p:txBody>
          <a:bodyPr wrap="square" rtlCol="0" anchor="ctr"/>
          <a:lstStyle/>
          <a:p>
            <a:pPr indent="0" marL="0">
              <a:buNone/>
            </a:pPr>
            <a:r>
              <a:rPr lang="en-US" sz="1050" i="1" dirty="0">
                <a:solidFill>
                  <a:srgbClr val="5C6B7E"/>
                </a:solidFill>
                <a:latin typeface="Calibri" pitchFamily="34" charset="0"/>
                <a:ea typeface="Calibri" pitchFamily="34" charset="-122"/>
                <a:cs typeface="Calibri" pitchFamily="34" charset="-120"/>
              </a:rPr>
              <a:t>BIS Research</a:t>
            </a:r>
            <a:endParaRPr lang="en-US" sz="1050" dirty="0"/>
          </a:p>
        </p:txBody>
      </p:sp>
      <p:sp>
        <p:nvSpPr>
          <p:cNvPr id="17" name="Shape 15"/>
          <p:cNvSpPr/>
          <p:nvPr/>
        </p:nvSpPr>
        <p:spPr>
          <a:xfrm>
            <a:off x="9070848" y="1691640"/>
            <a:ext cx="2688336" cy="3246120"/>
          </a:xfrm>
          <a:prstGeom prst="roundRect">
            <a:avLst>
              <a:gd name="adj" fmla="val 2721"/>
            </a:avLst>
          </a:prstGeom>
          <a:solidFill>
            <a:srgbClr val="EEF2F7"/>
          </a:solidFill>
          <a:ln w="12700">
            <a:solidFill>
              <a:srgbClr val="D5DEE8"/>
            </a:solidFill>
            <a:prstDash val="solid"/>
          </a:ln>
        </p:spPr>
      </p:sp>
      <p:sp>
        <p:nvSpPr>
          <p:cNvPr id="18" name="Text 16"/>
          <p:cNvSpPr/>
          <p:nvPr/>
        </p:nvSpPr>
        <p:spPr>
          <a:xfrm>
            <a:off x="9089136" y="1947672"/>
            <a:ext cx="2651760" cy="868680"/>
          </a:xfrm>
          <a:prstGeom prst="rect">
            <a:avLst/>
          </a:prstGeom>
          <a:noFill/>
          <a:ln/>
        </p:spPr>
        <p:txBody>
          <a:bodyPr wrap="square" rtlCol="0" anchor="ctr"/>
          <a:lstStyle/>
          <a:p>
            <a:pPr algn="ctr" indent="0" marL="0">
              <a:buNone/>
            </a:pPr>
            <a:r>
              <a:rPr lang="en-US" sz="4000" b="1" dirty="0">
                <a:solidFill>
                  <a:srgbClr val="E4843A"/>
                </a:solidFill>
                <a:latin typeface="Cambria" pitchFamily="34" charset="0"/>
                <a:ea typeface="Cambria" pitchFamily="34" charset="-122"/>
                <a:cs typeface="Cambria" pitchFamily="34" charset="-120"/>
              </a:rPr>
              <a:t>~25%</a:t>
            </a:r>
            <a:endParaRPr lang="en-US" sz="4000" dirty="0"/>
          </a:p>
        </p:txBody>
      </p:sp>
      <p:sp>
        <p:nvSpPr>
          <p:cNvPr id="19" name="Text 17"/>
          <p:cNvSpPr/>
          <p:nvPr/>
        </p:nvSpPr>
        <p:spPr>
          <a:xfrm>
            <a:off x="9290304" y="2926080"/>
            <a:ext cx="2249424" cy="1417320"/>
          </a:xfrm>
          <a:prstGeom prst="rect">
            <a:avLst/>
          </a:prstGeom>
          <a:noFill/>
          <a:ln/>
        </p:spPr>
        <p:txBody>
          <a:bodyPr wrap="square" rtlCol="0" anchor="t"/>
          <a:lstStyle/>
          <a:p>
            <a:pPr indent="0" marL="0">
              <a:lnSpc>
                <a:spcPct val="102000"/>
              </a:lnSpc>
              <a:buNone/>
            </a:pPr>
            <a:r>
              <a:rPr lang="en-US" sz="1400" dirty="0">
                <a:solidFill>
                  <a:srgbClr val="16283F"/>
                </a:solidFill>
                <a:latin typeface="Calibri" pitchFamily="34" charset="0"/>
                <a:ea typeface="Calibri" pitchFamily="34" charset="-122"/>
                <a:cs typeface="Calibri" pitchFamily="34" charset="-120"/>
              </a:rPr>
              <a:t>of experienced engineers retire within a decade — undocumented knowledge leaves with them</a:t>
            </a:r>
            <a:endParaRPr lang="en-US" sz="1400" dirty="0"/>
          </a:p>
        </p:txBody>
      </p:sp>
      <p:sp>
        <p:nvSpPr>
          <p:cNvPr id="20" name="Text 18"/>
          <p:cNvSpPr/>
          <p:nvPr/>
        </p:nvSpPr>
        <p:spPr>
          <a:xfrm>
            <a:off x="9290304" y="4553712"/>
            <a:ext cx="2249424" cy="274320"/>
          </a:xfrm>
          <a:prstGeom prst="rect">
            <a:avLst/>
          </a:prstGeom>
          <a:noFill/>
          <a:ln/>
        </p:spPr>
        <p:txBody>
          <a:bodyPr wrap="square" rtlCol="0" anchor="ctr"/>
          <a:lstStyle/>
          <a:p>
            <a:pPr indent="0" marL="0">
              <a:buNone/>
            </a:pPr>
            <a:r>
              <a:rPr lang="en-US" sz="1050" i="1" dirty="0">
                <a:solidFill>
                  <a:srgbClr val="5C6B7E"/>
                </a:solidFill>
                <a:latin typeface="Calibri" pitchFamily="34" charset="0"/>
                <a:ea typeface="Calibri" pitchFamily="34" charset="-122"/>
                <a:cs typeface="Calibri" pitchFamily="34" charset="-120"/>
              </a:rPr>
              <a:t>Sector estimate</a:t>
            </a:r>
            <a:endParaRPr lang="en-US" sz="1050" dirty="0"/>
          </a:p>
        </p:txBody>
      </p:sp>
      <p:sp>
        <p:nvSpPr>
          <p:cNvPr id="21" name="Text 19"/>
          <p:cNvSpPr/>
          <p:nvPr/>
        </p:nvSpPr>
        <p:spPr>
          <a:xfrm>
            <a:off x="566928" y="5257800"/>
            <a:ext cx="11064240" cy="640080"/>
          </a:xfrm>
          <a:prstGeom prst="rect">
            <a:avLst/>
          </a:prstGeom>
          <a:noFill/>
          <a:ln/>
        </p:spPr>
        <p:txBody>
          <a:bodyPr wrap="square" rtlCol="0" anchor="ctr"/>
          <a:lstStyle/>
          <a:p>
            <a:pPr algn="ctr" indent="0" marL="0">
              <a:buNone/>
            </a:pPr>
            <a:r>
              <a:rPr lang="en-US" sz="1800" b="1" i="1" dirty="0">
                <a:solidFill>
                  <a:srgbClr val="16283F"/>
                </a:solidFill>
                <a:latin typeface="Cambria" pitchFamily="34" charset="0"/>
                <a:ea typeface="Cambria" pitchFamily="34" charset="-122"/>
                <a:cs typeface="Cambria" pitchFamily="34" charset="-120"/>
              </a:rPr>
              <a:t>Not a file-management problem. </a:t>
            </a:r>
            <a:pPr algn="ctr" indent="0" marL="0">
              <a:buNone/>
            </a:pPr>
            <a:r>
              <a:rPr lang="en-US" sz="1800" i="1" dirty="0">
                <a:solidFill>
                  <a:srgbClr val="5C6B7E"/>
                </a:solidFill>
                <a:latin typeface="Cambria" pitchFamily="34" charset="0"/>
                <a:ea typeface="Cambria" pitchFamily="34" charset="-122"/>
                <a:cs typeface="Cambria" pitchFamily="34" charset="-120"/>
              </a:rPr>
              <a:t>A safety, quality, and operational-efficiency problem that compounds every year it goes unsolved.</a:t>
            </a:r>
            <a:endParaRPr lang="en-US" sz="1800" dirty="0"/>
          </a:p>
        </p:txBody>
      </p:sp>
      <p:sp>
        <p:nvSpPr>
          <p:cNvPr id="22" name="Text 20"/>
          <p:cNvSpPr/>
          <p:nvPr/>
        </p:nvSpPr>
        <p:spPr>
          <a:xfrm>
            <a:off x="9966960" y="6455664"/>
            <a:ext cx="1828800" cy="274320"/>
          </a:xfrm>
          <a:prstGeom prst="rect">
            <a:avLst/>
          </a:prstGeom>
          <a:noFill/>
          <a:ln/>
        </p:spPr>
        <p:txBody>
          <a:bodyPr wrap="square"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02 · ThermIQ</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E33"/>
        </a:solidFill>
      </p:bgPr>
    </p:bg>
    <p:spTree>
      <p:nvGrpSpPr>
        <p:cNvPr id="1" name=""/>
        <p:cNvGrpSpPr/>
        <p:nvPr/>
      </p:nvGrpSpPr>
      <p:grpSpPr>
        <a:xfrm>
          <a:off x="0" y="0"/>
          <a:ext cx="0" cy="0"/>
          <a:chOff x="0" y="0"/>
          <a:chExt cx="0" cy="0"/>
        </a:xfrm>
      </p:grpSpPr>
      <p:sp>
        <p:nvSpPr>
          <p:cNvPr id="2" name="Text 0"/>
          <p:cNvSpPr/>
          <p:nvPr/>
        </p:nvSpPr>
        <p:spPr>
          <a:xfrm>
            <a:off x="868680" y="1051560"/>
            <a:ext cx="7315200" cy="320040"/>
          </a:xfrm>
          <a:prstGeom prst="rect">
            <a:avLst/>
          </a:prstGeom>
          <a:noFill/>
          <a:ln/>
        </p:spPr>
        <p:txBody>
          <a:bodyPr wrap="square" rtlCol="0" anchor="ctr"/>
          <a:lstStyle/>
          <a:p>
            <a:pPr indent="0" marL="0">
              <a:buNone/>
            </a:pPr>
            <a:r>
              <a:rPr lang="en-US" sz="1300" b="1" spc="200" kern="0" dirty="0">
                <a:solidFill>
                  <a:srgbClr val="E4843A"/>
                </a:solidFill>
                <a:latin typeface="Calibri" pitchFamily="34" charset="0"/>
                <a:ea typeface="Calibri" pitchFamily="34" charset="-122"/>
                <a:cs typeface="Calibri" pitchFamily="34" charset="-120"/>
              </a:rPr>
              <a:t>OUR INSIGHT</a:t>
            </a:r>
            <a:endParaRPr lang="en-US" sz="1300" dirty="0"/>
          </a:p>
        </p:txBody>
      </p:sp>
      <p:sp>
        <p:nvSpPr>
          <p:cNvPr id="3" name="Text 1"/>
          <p:cNvSpPr/>
          <p:nvPr/>
        </p:nvSpPr>
        <p:spPr>
          <a:xfrm>
            <a:off x="822960" y="1554480"/>
            <a:ext cx="10424160" cy="2103120"/>
          </a:xfrm>
          <a:prstGeom prst="rect">
            <a:avLst/>
          </a:prstGeom>
          <a:noFill/>
          <a:ln/>
        </p:spPr>
        <p:txBody>
          <a:bodyPr wrap="square"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Don’t just answer questions.
</a:t>
            </a:r>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Price what the plant </a:t>
            </a:r>
            <a:pPr indent="0" marL="0">
              <a:lnSpc>
                <a:spcPct val="108000"/>
              </a:lnSpc>
              <a:buNone/>
            </a:pPr>
            <a:r>
              <a:rPr lang="en-US" sz="4000" b="1" i="1" dirty="0">
                <a:solidFill>
                  <a:srgbClr val="F2A65A"/>
                </a:solidFill>
                <a:latin typeface="Cambria" pitchFamily="34" charset="0"/>
                <a:ea typeface="Cambria" pitchFamily="34" charset="-122"/>
                <a:cs typeface="Cambria" pitchFamily="34" charset="-120"/>
              </a:rPr>
              <a:t>doesn’t know</a:t>
            </a:r>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 — in rupees.</a:t>
            </a:r>
            <a:endParaRPr lang="en-US" sz="4000" dirty="0"/>
          </a:p>
        </p:txBody>
      </p:sp>
      <p:sp>
        <p:nvSpPr>
          <p:cNvPr id="4" name="Shape 2"/>
          <p:cNvSpPr/>
          <p:nvPr/>
        </p:nvSpPr>
        <p:spPr>
          <a:xfrm>
            <a:off x="868680" y="3977640"/>
            <a:ext cx="91440" cy="457200"/>
          </a:xfrm>
          <a:prstGeom prst="rect">
            <a:avLst/>
          </a:prstGeom>
          <a:solidFill>
            <a:srgbClr val="E4843A"/>
          </a:solidFill>
          <a:ln/>
        </p:spPr>
      </p:sp>
      <p:sp>
        <p:nvSpPr>
          <p:cNvPr id="5" name="Text 3"/>
          <p:cNvSpPr/>
          <p:nvPr/>
        </p:nvSpPr>
        <p:spPr>
          <a:xfrm>
            <a:off x="1097280" y="3959352"/>
            <a:ext cx="100584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RAG copilot answers what’s written down.  </a:t>
            </a:r>
            <a:pPr indent="0" marL="0">
              <a:buNone/>
            </a:pPr>
            <a:r>
              <a:rPr lang="en-US" sz="1600" dirty="0">
                <a:solidFill>
                  <a:srgbClr val="9FB1C9"/>
                </a:solidFill>
                <a:latin typeface="Calibri" pitchFamily="34" charset="0"/>
                <a:ea typeface="Calibri" pitchFamily="34" charset="-122"/>
                <a:cs typeface="Calibri" pitchFamily="34" charset="-120"/>
              </a:rPr>
              <a:t>Everyone will build that.</a:t>
            </a:r>
            <a:endParaRPr lang="en-US" sz="1600" dirty="0"/>
          </a:p>
        </p:txBody>
      </p:sp>
      <p:sp>
        <p:nvSpPr>
          <p:cNvPr id="6" name="Shape 4"/>
          <p:cNvSpPr/>
          <p:nvPr/>
        </p:nvSpPr>
        <p:spPr>
          <a:xfrm>
            <a:off x="868680" y="4636008"/>
            <a:ext cx="91440" cy="457200"/>
          </a:xfrm>
          <a:prstGeom prst="rect">
            <a:avLst/>
          </a:prstGeom>
          <a:solidFill>
            <a:srgbClr val="E4843A"/>
          </a:solidFill>
          <a:ln/>
        </p:spPr>
      </p:sp>
      <p:sp>
        <p:nvSpPr>
          <p:cNvPr id="7" name="Text 5"/>
          <p:cNvSpPr/>
          <p:nvPr/>
        </p:nvSpPr>
        <p:spPr>
          <a:xfrm>
            <a:off x="1097280" y="4617720"/>
            <a:ext cx="100584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ThermIQ scores what ISN’T written down —  </a:t>
            </a:r>
            <a:pPr indent="0" marL="0">
              <a:buNone/>
            </a:pPr>
            <a:r>
              <a:rPr lang="en-US" sz="1600" dirty="0">
                <a:solidFill>
                  <a:srgbClr val="9FB1C9"/>
                </a:solidFill>
                <a:latin typeface="Calibri" pitchFamily="34" charset="0"/>
                <a:ea typeface="Calibri" pitchFamily="34" charset="-122"/>
                <a:cs typeface="Calibri" pitchFamily="34" charset="-120"/>
              </a:rPr>
              <a:t>every gap becomes a priced operational risk.</a:t>
            </a:r>
            <a:endParaRPr lang="en-US" sz="1600" dirty="0"/>
          </a:p>
        </p:txBody>
      </p:sp>
      <p:sp>
        <p:nvSpPr>
          <p:cNvPr id="8" name="Shape 6"/>
          <p:cNvSpPr/>
          <p:nvPr/>
        </p:nvSpPr>
        <p:spPr>
          <a:xfrm>
            <a:off x="868680" y="5294376"/>
            <a:ext cx="91440" cy="457200"/>
          </a:xfrm>
          <a:prstGeom prst="rect">
            <a:avLst/>
          </a:prstGeom>
          <a:solidFill>
            <a:srgbClr val="E4843A"/>
          </a:solidFill>
          <a:ln/>
        </p:spPr>
      </p:sp>
      <p:sp>
        <p:nvSpPr>
          <p:cNvPr id="9" name="Text 7"/>
          <p:cNvSpPr/>
          <p:nvPr/>
        </p:nvSpPr>
        <p:spPr>
          <a:xfrm>
            <a:off x="1097280" y="5276088"/>
            <a:ext cx="100584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knowledge gap stops being an audit footnote  </a:t>
            </a:r>
            <a:pPr indent="0" marL="0">
              <a:buNone/>
            </a:pPr>
            <a:r>
              <a:rPr lang="en-US" sz="1600" dirty="0">
                <a:solidFill>
                  <a:srgbClr val="9FB1C9"/>
                </a:solidFill>
                <a:latin typeface="Calibri" pitchFamily="34" charset="0"/>
                <a:ea typeface="Calibri" pitchFamily="34" charset="-122"/>
                <a:cs typeface="Calibri" pitchFamily="34" charset="-120"/>
              </a:rPr>
              <a:t>and becomes a capital-allocation decision.</a:t>
            </a:r>
            <a:endParaRPr lang="en-US" sz="1600" dirty="0"/>
          </a:p>
        </p:txBody>
      </p:sp>
      <p:sp>
        <p:nvSpPr>
          <p:cNvPr id="10" name="Text 8"/>
          <p:cNvSpPr/>
          <p:nvPr/>
        </p:nvSpPr>
        <p:spPr>
          <a:xfrm>
            <a:off x="9966960" y="6455664"/>
            <a:ext cx="1828800" cy="274320"/>
          </a:xfrm>
          <a:prstGeom prst="rect">
            <a:avLst/>
          </a:prstGeom>
          <a:noFill/>
          <a:ln/>
        </p:spPr>
        <p:txBody>
          <a:bodyPr wrap="square"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03 · ThermIQ</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128016" cy="384048"/>
          </a:xfrm>
          <a:prstGeom prst="rect">
            <a:avLst/>
          </a:prstGeom>
          <a:solidFill>
            <a:srgbClr val="E4843A"/>
          </a:solidFill>
          <a:ln/>
        </p:spPr>
      </p:sp>
      <p:sp>
        <p:nvSpPr>
          <p:cNvPr id="3" name="Text 1"/>
          <p:cNvSpPr/>
          <p:nvPr/>
        </p:nvSpPr>
        <p:spPr>
          <a:xfrm>
            <a:off x="804672" y="493776"/>
            <a:ext cx="10607040" cy="256032"/>
          </a:xfrm>
          <a:prstGeom prst="rect">
            <a:avLst/>
          </a:prstGeom>
          <a:noFill/>
          <a:ln/>
        </p:spPr>
        <p:txBody>
          <a:bodyPr wrap="square" rtlCol="0" anchor="ctr"/>
          <a:lstStyle/>
          <a:p>
            <a:pPr indent="0" marL="0">
              <a:buNone/>
            </a:pPr>
            <a:r>
              <a:rPr lang="en-US" sz="1200" b="1" spc="200" kern="0" dirty="0">
                <a:solidFill>
                  <a:srgbClr val="E4843A"/>
                </a:solidFill>
                <a:latin typeface="Calibri" pitchFamily="34" charset="0"/>
                <a:ea typeface="Calibri" pitchFamily="34" charset="-122"/>
                <a:cs typeface="Calibri" pitchFamily="34" charset="-120"/>
              </a:rPr>
              <a:t>SOLUTION</a:t>
            </a:r>
            <a:endParaRPr lang="en-US" sz="1200" dirty="0"/>
          </a:p>
        </p:txBody>
      </p:sp>
      <p:sp>
        <p:nvSpPr>
          <p:cNvPr id="4" name="Text 2"/>
          <p:cNvSpPr/>
          <p:nvPr/>
        </p:nvSpPr>
        <p:spPr>
          <a:xfrm>
            <a:off x="786384" y="731520"/>
            <a:ext cx="10789920" cy="658368"/>
          </a:xfrm>
          <a:prstGeom prst="rect">
            <a:avLst/>
          </a:prstGeom>
          <a:noFill/>
          <a:ln/>
        </p:spPr>
        <p:txBody>
          <a:bodyPr wrap="square" rtlCol="0" anchor="ctr"/>
          <a:lstStyle/>
          <a:p>
            <a:pPr indent="0" marL="0">
              <a:buNone/>
            </a:pPr>
            <a:r>
              <a:rPr lang="en-US" sz="3000" b="1" dirty="0">
                <a:solidFill>
                  <a:srgbClr val="16283F"/>
                </a:solidFill>
                <a:latin typeface="Cambria" pitchFamily="34" charset="0"/>
                <a:ea typeface="Cambria" pitchFamily="34" charset="-122"/>
                <a:cs typeface="Cambria" pitchFamily="34" charset="-120"/>
              </a:rPr>
              <a:t>One operational brain, four working layers</a:t>
            </a:r>
            <a:endParaRPr lang="en-US" sz="3000" dirty="0"/>
          </a:p>
        </p:txBody>
      </p:sp>
      <p:sp>
        <p:nvSpPr>
          <p:cNvPr id="5" name="Shape 3"/>
          <p:cNvSpPr/>
          <p:nvPr/>
        </p:nvSpPr>
        <p:spPr>
          <a:xfrm>
            <a:off x="566928" y="1783080"/>
            <a:ext cx="566928" cy="566928"/>
          </a:xfrm>
          <a:prstGeom prst="roundRect">
            <a:avLst>
              <a:gd name="adj" fmla="val 9677"/>
            </a:avLst>
          </a:prstGeom>
          <a:solidFill>
            <a:srgbClr val="0E1E33"/>
          </a:solidFill>
          <a:ln/>
        </p:spPr>
      </p:sp>
      <p:sp>
        <p:nvSpPr>
          <p:cNvPr id="6" name="Text 4"/>
          <p:cNvSpPr/>
          <p:nvPr/>
        </p:nvSpPr>
        <p:spPr>
          <a:xfrm>
            <a:off x="566928" y="1783080"/>
            <a:ext cx="566928" cy="566928"/>
          </a:xfrm>
          <a:prstGeom prst="rect">
            <a:avLst/>
          </a:prstGeom>
          <a:noFill/>
          <a:ln/>
        </p:spPr>
        <p:txBody>
          <a:bodyPr wrap="square" rtlCol="0" anchor="ctr"/>
          <a:lstStyle/>
          <a:p>
            <a:pPr algn="ctr" indent="0" marL="0">
              <a:buNone/>
            </a:pPr>
            <a:r>
              <a:rPr lang="en-US" sz="2200" b="1" dirty="0">
                <a:solidFill>
                  <a:srgbClr val="F2A65A"/>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298448" y="1755648"/>
            <a:ext cx="5394960" cy="347472"/>
          </a:xfrm>
          <a:prstGeom prst="rect">
            <a:avLst/>
          </a:prstGeom>
          <a:noFill/>
          <a:ln/>
        </p:spPr>
        <p:txBody>
          <a:bodyPr wrap="square" rtlCol="0" anchor="ctr"/>
          <a:lstStyle/>
          <a:p>
            <a:pPr indent="0" marL="0">
              <a:buNone/>
            </a:pPr>
            <a:r>
              <a:rPr lang="en-US" sz="1700" b="1" dirty="0">
                <a:solidFill>
                  <a:srgbClr val="16283F"/>
                </a:solidFill>
                <a:latin typeface="Calibri" pitchFamily="34" charset="0"/>
                <a:ea typeface="Calibri" pitchFamily="34" charset="-122"/>
                <a:cs typeface="Calibri" pitchFamily="34" charset="-120"/>
              </a:rPr>
              <a:t>Query Copilot</a:t>
            </a:r>
            <a:endParaRPr lang="en-US" sz="1700" dirty="0"/>
          </a:p>
        </p:txBody>
      </p:sp>
      <p:sp>
        <p:nvSpPr>
          <p:cNvPr id="8" name="Text 6"/>
          <p:cNvSpPr/>
          <p:nvPr/>
        </p:nvSpPr>
        <p:spPr>
          <a:xfrm>
            <a:off x="1298448" y="2093976"/>
            <a:ext cx="5394960" cy="548640"/>
          </a:xfrm>
          <a:prstGeom prst="rect">
            <a:avLst/>
          </a:prstGeom>
          <a:noFill/>
          <a:ln/>
        </p:spPr>
        <p:txBody>
          <a:bodyPr wrap="square" rtlCol="0" anchor="ctr"/>
          <a:lstStyle/>
          <a:p>
            <a:pPr indent="0" marL="0">
              <a:lnSpc>
                <a:spcPct val="100000"/>
              </a:lnSpc>
              <a:buNone/>
            </a:pPr>
            <a:r>
              <a:rPr lang="en-US" sz="1350" dirty="0">
                <a:solidFill>
                  <a:srgbClr val="5C6B7E"/>
                </a:solidFill>
                <a:latin typeface="Calibri" pitchFamily="34" charset="0"/>
                <a:ea typeface="Calibri" pitchFamily="34" charset="-122"/>
                <a:cs typeface="Calibri" pitchFamily="34" charset="-120"/>
              </a:rPr>
              <a:t>RAG chat over plant + CEA docs. Cited answers, built for O&amp;M engineers.</a:t>
            </a:r>
            <a:endParaRPr lang="en-US" sz="1350" dirty="0"/>
          </a:p>
        </p:txBody>
      </p:sp>
      <p:sp>
        <p:nvSpPr>
          <p:cNvPr id="9" name="Shape 7"/>
          <p:cNvSpPr/>
          <p:nvPr/>
        </p:nvSpPr>
        <p:spPr>
          <a:xfrm>
            <a:off x="566928" y="2752344"/>
            <a:ext cx="566928" cy="566928"/>
          </a:xfrm>
          <a:prstGeom prst="roundRect">
            <a:avLst>
              <a:gd name="adj" fmla="val 9677"/>
            </a:avLst>
          </a:prstGeom>
          <a:solidFill>
            <a:srgbClr val="0E1E33"/>
          </a:solidFill>
          <a:ln/>
        </p:spPr>
      </p:sp>
      <p:sp>
        <p:nvSpPr>
          <p:cNvPr id="10" name="Text 8"/>
          <p:cNvSpPr/>
          <p:nvPr/>
        </p:nvSpPr>
        <p:spPr>
          <a:xfrm>
            <a:off x="566928" y="2752344"/>
            <a:ext cx="566928" cy="566928"/>
          </a:xfrm>
          <a:prstGeom prst="rect">
            <a:avLst/>
          </a:prstGeom>
          <a:noFill/>
          <a:ln/>
        </p:spPr>
        <p:txBody>
          <a:bodyPr wrap="square" rtlCol="0" anchor="ctr"/>
          <a:lstStyle/>
          <a:p>
            <a:pPr algn="ctr" indent="0" marL="0">
              <a:buNone/>
            </a:pPr>
            <a:r>
              <a:rPr lang="en-US" sz="2200" b="1" dirty="0">
                <a:solidFill>
                  <a:srgbClr val="F2A65A"/>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1298448" y="2724912"/>
            <a:ext cx="5394960" cy="347472"/>
          </a:xfrm>
          <a:prstGeom prst="rect">
            <a:avLst/>
          </a:prstGeom>
          <a:noFill/>
          <a:ln/>
        </p:spPr>
        <p:txBody>
          <a:bodyPr wrap="square" rtlCol="0" anchor="ctr"/>
          <a:lstStyle/>
          <a:p>
            <a:pPr indent="0" marL="0">
              <a:buNone/>
            </a:pPr>
            <a:r>
              <a:rPr lang="en-US" sz="1700" b="1" dirty="0">
                <a:solidFill>
                  <a:srgbClr val="16283F"/>
                </a:solidFill>
                <a:latin typeface="Calibri" pitchFamily="34" charset="0"/>
                <a:ea typeface="Calibri" pitchFamily="34" charset="-122"/>
                <a:cs typeface="Calibri" pitchFamily="34" charset="-120"/>
              </a:rPr>
              <a:t>Knowledge-Gap Detection</a:t>
            </a:r>
            <a:endParaRPr lang="en-US" sz="1700" dirty="0"/>
          </a:p>
        </p:txBody>
      </p:sp>
      <p:sp>
        <p:nvSpPr>
          <p:cNvPr id="12" name="Text 10"/>
          <p:cNvSpPr/>
          <p:nvPr/>
        </p:nvSpPr>
        <p:spPr>
          <a:xfrm>
            <a:off x="1298448" y="3063240"/>
            <a:ext cx="5394960" cy="548640"/>
          </a:xfrm>
          <a:prstGeom prst="rect">
            <a:avLst/>
          </a:prstGeom>
          <a:noFill/>
          <a:ln/>
        </p:spPr>
        <p:txBody>
          <a:bodyPr wrap="square" rtlCol="0" anchor="ctr"/>
          <a:lstStyle/>
          <a:p>
            <a:pPr indent="0" marL="0">
              <a:lnSpc>
                <a:spcPct val="100000"/>
              </a:lnSpc>
              <a:buNone/>
            </a:pPr>
            <a:r>
              <a:rPr lang="en-US" sz="1350" dirty="0">
                <a:solidFill>
                  <a:srgbClr val="5C6B7E"/>
                </a:solidFill>
                <a:latin typeface="Calibri" pitchFamily="34" charset="0"/>
                <a:ea typeface="Calibri" pitchFamily="34" charset="-122"/>
                <a:cs typeface="Calibri" pitchFamily="34" charset="-120"/>
              </a:rPr>
              <a:t>A 19-item expert checklist scored against each plant’s own corpus.</a:t>
            </a:r>
            <a:endParaRPr lang="en-US" sz="1350" dirty="0"/>
          </a:p>
        </p:txBody>
      </p:sp>
      <p:sp>
        <p:nvSpPr>
          <p:cNvPr id="13" name="Shape 11"/>
          <p:cNvSpPr/>
          <p:nvPr/>
        </p:nvSpPr>
        <p:spPr>
          <a:xfrm>
            <a:off x="566928" y="3721608"/>
            <a:ext cx="566928" cy="566928"/>
          </a:xfrm>
          <a:prstGeom prst="roundRect">
            <a:avLst>
              <a:gd name="adj" fmla="val 9677"/>
            </a:avLst>
          </a:prstGeom>
          <a:solidFill>
            <a:srgbClr val="0E1E33"/>
          </a:solidFill>
          <a:ln/>
        </p:spPr>
      </p:sp>
      <p:sp>
        <p:nvSpPr>
          <p:cNvPr id="14" name="Text 12"/>
          <p:cNvSpPr/>
          <p:nvPr/>
        </p:nvSpPr>
        <p:spPr>
          <a:xfrm>
            <a:off x="566928" y="3721608"/>
            <a:ext cx="566928" cy="566928"/>
          </a:xfrm>
          <a:prstGeom prst="rect">
            <a:avLst/>
          </a:prstGeom>
          <a:noFill/>
          <a:ln/>
        </p:spPr>
        <p:txBody>
          <a:bodyPr wrap="square" rtlCol="0" anchor="ctr"/>
          <a:lstStyle/>
          <a:p>
            <a:pPr algn="ctr" indent="0" marL="0">
              <a:buNone/>
            </a:pPr>
            <a:r>
              <a:rPr lang="en-US" sz="2200" b="1" dirty="0">
                <a:solidFill>
                  <a:srgbClr val="F2A65A"/>
                </a:solidFill>
                <a:latin typeface="Cambria" pitchFamily="34" charset="0"/>
                <a:ea typeface="Cambria" pitchFamily="34" charset="-122"/>
                <a:cs typeface="Cambria" pitchFamily="34" charset="-120"/>
              </a:rPr>
              <a:t>3</a:t>
            </a:r>
            <a:endParaRPr lang="en-US" sz="2200" dirty="0"/>
          </a:p>
        </p:txBody>
      </p:sp>
      <p:sp>
        <p:nvSpPr>
          <p:cNvPr id="15" name="Text 13"/>
          <p:cNvSpPr/>
          <p:nvPr/>
        </p:nvSpPr>
        <p:spPr>
          <a:xfrm>
            <a:off x="1298448" y="3694176"/>
            <a:ext cx="5394960" cy="347472"/>
          </a:xfrm>
          <a:prstGeom prst="rect">
            <a:avLst/>
          </a:prstGeom>
          <a:noFill/>
          <a:ln/>
        </p:spPr>
        <p:txBody>
          <a:bodyPr wrap="square" rtlCol="0" anchor="ctr"/>
          <a:lstStyle/>
          <a:p>
            <a:pPr indent="0" marL="0">
              <a:buNone/>
            </a:pPr>
            <a:r>
              <a:rPr lang="en-US" sz="1700" b="1" dirty="0">
                <a:solidFill>
                  <a:srgbClr val="16283F"/>
                </a:solidFill>
                <a:latin typeface="Calibri" pitchFamily="34" charset="0"/>
                <a:ea typeface="Calibri" pitchFamily="34" charset="-122"/>
                <a:cs typeface="Calibri" pitchFamily="34" charset="-120"/>
              </a:rPr>
              <a:t>Risk Quantification Dashboard</a:t>
            </a:r>
            <a:endParaRPr lang="en-US" sz="1700" dirty="0"/>
          </a:p>
        </p:txBody>
      </p:sp>
      <p:sp>
        <p:nvSpPr>
          <p:cNvPr id="16" name="Text 14"/>
          <p:cNvSpPr/>
          <p:nvPr/>
        </p:nvSpPr>
        <p:spPr>
          <a:xfrm>
            <a:off x="1298448" y="4032504"/>
            <a:ext cx="5394960" cy="548640"/>
          </a:xfrm>
          <a:prstGeom prst="rect">
            <a:avLst/>
          </a:prstGeom>
          <a:noFill/>
          <a:ln/>
        </p:spPr>
        <p:txBody>
          <a:bodyPr wrap="square" rtlCol="0" anchor="ctr"/>
          <a:lstStyle/>
          <a:p>
            <a:pPr indent="0" marL="0">
              <a:lnSpc>
                <a:spcPct val="100000"/>
              </a:lnSpc>
              <a:buNone/>
            </a:pPr>
            <a:r>
              <a:rPr lang="en-US" sz="1350" dirty="0">
                <a:solidFill>
                  <a:srgbClr val="5C6B7E"/>
                </a:solidFill>
                <a:latin typeface="Calibri" pitchFamily="34" charset="0"/>
                <a:ea typeface="Calibri" pitchFamily="34" charset="-122"/>
                <a:cs typeface="Calibri" pitchFamily="34" charset="-120"/>
              </a:rPr>
              <a:t>Every gap priced in ₹ crore, ranked, and explained — with its source.</a:t>
            </a:r>
            <a:endParaRPr lang="en-US" sz="1350" dirty="0"/>
          </a:p>
        </p:txBody>
      </p:sp>
      <p:sp>
        <p:nvSpPr>
          <p:cNvPr id="17" name="Shape 15"/>
          <p:cNvSpPr/>
          <p:nvPr/>
        </p:nvSpPr>
        <p:spPr>
          <a:xfrm>
            <a:off x="566928" y="4690872"/>
            <a:ext cx="566928" cy="566928"/>
          </a:xfrm>
          <a:prstGeom prst="roundRect">
            <a:avLst>
              <a:gd name="adj" fmla="val 9677"/>
            </a:avLst>
          </a:prstGeom>
          <a:solidFill>
            <a:srgbClr val="0E1E33"/>
          </a:solidFill>
          <a:ln/>
        </p:spPr>
      </p:sp>
      <p:sp>
        <p:nvSpPr>
          <p:cNvPr id="18" name="Text 16"/>
          <p:cNvSpPr/>
          <p:nvPr/>
        </p:nvSpPr>
        <p:spPr>
          <a:xfrm>
            <a:off x="566928" y="4690872"/>
            <a:ext cx="566928" cy="566928"/>
          </a:xfrm>
          <a:prstGeom prst="rect">
            <a:avLst/>
          </a:prstGeom>
          <a:noFill/>
          <a:ln/>
        </p:spPr>
        <p:txBody>
          <a:bodyPr wrap="square" rtlCol="0" anchor="ctr"/>
          <a:lstStyle/>
          <a:p>
            <a:pPr algn="ctr" indent="0" marL="0">
              <a:buNone/>
            </a:pPr>
            <a:r>
              <a:rPr lang="en-US" sz="2200" b="1" dirty="0">
                <a:solidFill>
                  <a:srgbClr val="F2A65A"/>
                </a:solidFill>
                <a:latin typeface="Cambria" pitchFamily="34" charset="0"/>
                <a:ea typeface="Cambria" pitchFamily="34" charset="-122"/>
                <a:cs typeface="Cambria" pitchFamily="34" charset="-120"/>
              </a:rPr>
              <a:t>4</a:t>
            </a:r>
            <a:endParaRPr lang="en-US" sz="2200" dirty="0"/>
          </a:p>
        </p:txBody>
      </p:sp>
      <p:sp>
        <p:nvSpPr>
          <p:cNvPr id="19" name="Text 17"/>
          <p:cNvSpPr/>
          <p:nvPr/>
        </p:nvSpPr>
        <p:spPr>
          <a:xfrm>
            <a:off x="1298448" y="4663440"/>
            <a:ext cx="5394960" cy="347472"/>
          </a:xfrm>
          <a:prstGeom prst="rect">
            <a:avLst/>
          </a:prstGeom>
          <a:noFill/>
          <a:ln/>
        </p:spPr>
        <p:txBody>
          <a:bodyPr wrap="square" rtlCol="0" anchor="ctr"/>
          <a:lstStyle/>
          <a:p>
            <a:pPr indent="0" marL="0">
              <a:buNone/>
            </a:pPr>
            <a:r>
              <a:rPr lang="en-US" sz="1700" b="1" dirty="0">
                <a:solidFill>
                  <a:srgbClr val="16283F"/>
                </a:solidFill>
                <a:latin typeface="Calibri" pitchFamily="34" charset="0"/>
                <a:ea typeface="Calibri" pitchFamily="34" charset="-122"/>
                <a:cs typeface="Calibri" pitchFamily="34" charset="-120"/>
              </a:rPr>
              <a:t>Knowledge Graph</a:t>
            </a:r>
            <a:endParaRPr lang="en-US" sz="1700" dirty="0"/>
          </a:p>
        </p:txBody>
      </p:sp>
      <p:sp>
        <p:nvSpPr>
          <p:cNvPr id="20" name="Text 18"/>
          <p:cNvSpPr/>
          <p:nvPr/>
        </p:nvSpPr>
        <p:spPr>
          <a:xfrm>
            <a:off x="1298448" y="5001768"/>
            <a:ext cx="5394960" cy="548640"/>
          </a:xfrm>
          <a:prstGeom prst="rect">
            <a:avLst/>
          </a:prstGeom>
          <a:noFill/>
          <a:ln/>
        </p:spPr>
        <p:txBody>
          <a:bodyPr wrap="square" rtlCol="0" anchor="ctr"/>
          <a:lstStyle/>
          <a:p>
            <a:pPr indent="0" marL="0">
              <a:lnSpc>
                <a:spcPct val="100000"/>
              </a:lnSpc>
              <a:buNone/>
            </a:pPr>
            <a:r>
              <a:rPr lang="en-US" sz="1350" dirty="0">
                <a:solidFill>
                  <a:srgbClr val="5C6B7E"/>
                </a:solidFill>
                <a:latin typeface="Calibri" pitchFamily="34" charset="0"/>
                <a:ea typeface="Calibri" pitchFamily="34" charset="-122"/>
                <a:cs typeface="Calibri" pitchFamily="34" charset="-120"/>
              </a:rPr>
              <a:t>Failure modes linked to real outage cost and the regulation that governs them.</a:t>
            </a:r>
            <a:endParaRPr lang="en-US" sz="1350" dirty="0"/>
          </a:p>
        </p:txBody>
      </p:sp>
      <p:sp>
        <p:nvSpPr>
          <p:cNvPr id="21" name="Shape 19"/>
          <p:cNvSpPr/>
          <p:nvPr/>
        </p:nvSpPr>
        <p:spPr>
          <a:xfrm>
            <a:off x="7050024" y="1929384"/>
            <a:ext cx="4645152" cy="2353451"/>
          </a:xfrm>
          <a:prstGeom prst="rect">
            <a:avLst/>
          </a:prstGeom>
          <a:solidFill>
            <a:srgbClr val="FFFFFF"/>
          </a:solidFill>
          <a:ln w="12700">
            <a:solidFill>
              <a:srgbClr val="D5DEE8"/>
            </a:solidFill>
            <a:prstDash val="solid"/>
          </a:ln>
          <a:effectLst>
            <a:outerShdw sx="100000" sy="100000" kx="0" ky="0" algn="bl" rotWithShape="0" blurRad="114300" dist="38100" dir="5400000">
              <a:srgbClr val="9AA9BC">
                <a:alpha val="45000"/>
              </a:srgbClr>
            </a:outerShdw>
          </a:effectLst>
        </p:spPr>
      </p:sp>
      <p:pic>
        <p:nvPicPr>
          <p:cNvPr id="22" name="Image 0" descr="/sessions/fervent-compassionate-franklin/mnt/ET AI Hackathon/deck_assets/05a_hub_operations_console.jpg">    </p:cNvPr>
          <p:cNvPicPr>
            <a:picLocks noChangeAspect="1"/>
          </p:cNvPicPr>
          <p:nvPr/>
        </p:nvPicPr>
        <p:blipFill>
          <a:blip r:embed="rId1"/>
          <a:stretch>
            <a:fillRect/>
          </a:stretch>
        </p:blipFill>
        <p:spPr>
          <a:xfrm>
            <a:off x="7086600" y="1965960"/>
            <a:ext cx="4572000" cy="2280299"/>
          </a:xfrm>
          <a:prstGeom prst="rect">
            <a:avLst/>
          </a:prstGeom>
        </p:spPr>
      </p:pic>
      <p:sp>
        <p:nvSpPr>
          <p:cNvPr id="23" name="Text 20"/>
          <p:cNvSpPr/>
          <p:nvPr/>
        </p:nvSpPr>
        <p:spPr>
          <a:xfrm>
            <a:off x="7086600" y="4590288"/>
            <a:ext cx="4572000" cy="274320"/>
          </a:xfrm>
          <a:prstGeom prst="rect">
            <a:avLst/>
          </a:prstGeom>
          <a:noFill/>
          <a:ln/>
        </p:spPr>
        <p:txBody>
          <a:bodyPr wrap="square" rtlCol="0" anchor="ctr"/>
          <a:lstStyle/>
          <a:p>
            <a:pPr algn="ctr" indent="0" marL="0">
              <a:buNone/>
            </a:pPr>
            <a:r>
              <a:rPr lang="en-US" sz="1100" i="1" dirty="0">
                <a:solidFill>
                  <a:srgbClr val="5C6B7E"/>
                </a:solidFill>
                <a:latin typeface="Calibri" pitchFamily="34" charset="0"/>
                <a:ea typeface="Calibri" pitchFamily="34" charset="-122"/>
                <a:cs typeface="Calibri" pitchFamily="34" charset="-120"/>
              </a:rPr>
              <a:t>Live console — therm-iq.vercel.app</a:t>
            </a:r>
            <a:endParaRPr lang="en-US" sz="1100" dirty="0"/>
          </a:p>
        </p:txBody>
      </p:sp>
      <p:sp>
        <p:nvSpPr>
          <p:cNvPr id="24" name="Text 21"/>
          <p:cNvSpPr/>
          <p:nvPr/>
        </p:nvSpPr>
        <p:spPr>
          <a:xfrm>
            <a:off x="566928" y="5943600"/>
            <a:ext cx="6400800" cy="640080"/>
          </a:xfrm>
          <a:prstGeom prst="rect">
            <a:avLst/>
          </a:prstGeom>
          <a:noFill/>
          <a:ln/>
        </p:spPr>
        <p:txBody>
          <a:bodyPr wrap="square" rtlCol="0" anchor="ctr"/>
          <a:lstStyle/>
          <a:p>
            <a:pPr indent="0" marL="0">
              <a:buNone/>
            </a:pPr>
            <a:r>
              <a:rPr lang="en-US" sz="1450" i="1" dirty="0">
                <a:solidFill>
                  <a:srgbClr val="16283F"/>
                </a:solidFill>
                <a:latin typeface="Cambria" pitchFamily="34" charset="0"/>
                <a:ea typeface="Cambria" pitchFamily="34" charset="-122"/>
                <a:cs typeface="Cambria" pitchFamily="34" charset="-120"/>
              </a:rPr>
              <a:t>All four layers share one live backend and one risk model — nothing here is a standalone demo.</a:t>
            </a:r>
            <a:endParaRPr lang="en-US" sz="1450" dirty="0"/>
          </a:p>
        </p:txBody>
      </p:sp>
      <p:sp>
        <p:nvSpPr>
          <p:cNvPr id="25" name="Text 22"/>
          <p:cNvSpPr/>
          <p:nvPr/>
        </p:nvSpPr>
        <p:spPr>
          <a:xfrm>
            <a:off x="9966960" y="6455664"/>
            <a:ext cx="1828800" cy="274320"/>
          </a:xfrm>
          <a:prstGeom prst="rect">
            <a:avLst/>
          </a:prstGeom>
          <a:noFill/>
          <a:ln/>
        </p:spPr>
        <p:txBody>
          <a:bodyPr wrap="square"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04 · ThermIQ</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128016" cy="384048"/>
          </a:xfrm>
          <a:prstGeom prst="rect">
            <a:avLst/>
          </a:prstGeom>
          <a:solidFill>
            <a:srgbClr val="E4843A"/>
          </a:solidFill>
          <a:ln/>
        </p:spPr>
      </p:sp>
      <p:sp>
        <p:nvSpPr>
          <p:cNvPr id="3" name="Text 1"/>
          <p:cNvSpPr/>
          <p:nvPr/>
        </p:nvSpPr>
        <p:spPr>
          <a:xfrm>
            <a:off x="804672" y="493776"/>
            <a:ext cx="10607040" cy="256032"/>
          </a:xfrm>
          <a:prstGeom prst="rect">
            <a:avLst/>
          </a:prstGeom>
          <a:noFill/>
          <a:ln/>
        </p:spPr>
        <p:txBody>
          <a:bodyPr wrap="square" rtlCol="0" anchor="ctr"/>
          <a:lstStyle/>
          <a:p>
            <a:pPr indent="0" marL="0">
              <a:buNone/>
            </a:pPr>
            <a:r>
              <a:rPr lang="en-US" sz="1200" b="1" spc="200" kern="0" dirty="0">
                <a:solidFill>
                  <a:srgbClr val="E4843A"/>
                </a:solidFill>
                <a:latin typeface="Calibri" pitchFamily="34" charset="0"/>
                <a:ea typeface="Calibri" pitchFamily="34" charset="-122"/>
                <a:cs typeface="Calibri" pitchFamily="34" charset="-120"/>
              </a:rPr>
              <a:t>SEE IT LIVE · 1</a:t>
            </a:r>
            <a:endParaRPr lang="en-US" sz="1200" dirty="0"/>
          </a:p>
        </p:txBody>
      </p:sp>
      <p:sp>
        <p:nvSpPr>
          <p:cNvPr id="4" name="Text 2"/>
          <p:cNvSpPr/>
          <p:nvPr/>
        </p:nvSpPr>
        <p:spPr>
          <a:xfrm>
            <a:off x="786384" y="731520"/>
            <a:ext cx="10789920" cy="658368"/>
          </a:xfrm>
          <a:prstGeom prst="rect">
            <a:avLst/>
          </a:prstGeom>
          <a:noFill/>
          <a:ln/>
        </p:spPr>
        <p:txBody>
          <a:bodyPr wrap="square" rtlCol="0" anchor="ctr"/>
          <a:lstStyle/>
          <a:p>
            <a:pPr indent="0" marL="0">
              <a:buNone/>
            </a:pPr>
            <a:r>
              <a:rPr lang="en-US" sz="3000" b="1" dirty="0">
                <a:solidFill>
                  <a:srgbClr val="16283F"/>
                </a:solidFill>
                <a:latin typeface="Cambria" pitchFamily="34" charset="0"/>
                <a:ea typeface="Cambria" pitchFamily="34" charset="-122"/>
                <a:cs typeface="Cambria" pitchFamily="34" charset="-120"/>
              </a:rPr>
              <a:t>Query Copilot — cited answers in seconds</a:t>
            </a:r>
            <a:endParaRPr lang="en-US" sz="3000" dirty="0"/>
          </a:p>
        </p:txBody>
      </p:sp>
      <p:sp>
        <p:nvSpPr>
          <p:cNvPr id="5" name="Shape 3"/>
          <p:cNvSpPr/>
          <p:nvPr/>
        </p:nvSpPr>
        <p:spPr>
          <a:xfrm>
            <a:off x="530352" y="1563624"/>
            <a:ext cx="7479792" cy="3767237"/>
          </a:xfrm>
          <a:prstGeom prst="rect">
            <a:avLst/>
          </a:prstGeom>
          <a:solidFill>
            <a:srgbClr val="FFFFFF"/>
          </a:solidFill>
          <a:ln w="12700">
            <a:solidFill>
              <a:srgbClr val="D5DEE8"/>
            </a:solidFill>
            <a:prstDash val="solid"/>
          </a:ln>
          <a:effectLst>
            <a:outerShdw sx="100000" sy="100000" kx="0" ky="0" algn="bl" rotWithShape="0" blurRad="114300" dist="38100" dir="5400000">
              <a:srgbClr val="9AA9BC">
                <a:alpha val="45000"/>
              </a:srgbClr>
            </a:outerShdw>
          </a:effectLst>
        </p:spPr>
      </p:sp>
      <p:pic>
        <p:nvPicPr>
          <p:cNvPr id="6" name="Image 0" descr="/sessions/fervent-compassionate-franklin/mnt/ET AI Hackathon/deck_assets/05b_query_copilot_cited_answer.jpg">    </p:cNvPr>
          <p:cNvPicPr>
            <a:picLocks noChangeAspect="1"/>
          </p:cNvPicPr>
          <p:nvPr/>
        </p:nvPicPr>
        <p:blipFill>
          <a:blip r:embed="rId1"/>
          <a:stretch>
            <a:fillRect/>
          </a:stretch>
        </p:blipFill>
        <p:spPr>
          <a:xfrm>
            <a:off x="566928" y="1600200"/>
            <a:ext cx="7406640" cy="3694085"/>
          </a:xfrm>
          <a:prstGeom prst="rect">
            <a:avLst/>
          </a:prstGeom>
        </p:spPr>
      </p:pic>
      <p:sp>
        <p:nvSpPr>
          <p:cNvPr id="7" name="Text 4"/>
          <p:cNvSpPr/>
          <p:nvPr/>
        </p:nvSpPr>
        <p:spPr>
          <a:xfrm>
            <a:off x="8275320" y="1783080"/>
            <a:ext cx="3383280" cy="292608"/>
          </a:xfrm>
          <a:prstGeom prst="rect">
            <a:avLst/>
          </a:prstGeom>
          <a:noFill/>
          <a:ln/>
        </p:spPr>
        <p:txBody>
          <a:bodyPr wrap="square" rtlCol="0" anchor="ctr"/>
          <a:lstStyle/>
          <a:p>
            <a:pPr indent="0" marL="0">
              <a:buNone/>
            </a:pPr>
            <a:r>
              <a:rPr lang="en-US" sz="1500" b="1" dirty="0">
                <a:solidFill>
                  <a:srgbClr val="E4843A"/>
                </a:solidFill>
                <a:latin typeface="Calibri" pitchFamily="34" charset="0"/>
                <a:ea typeface="Calibri" pitchFamily="34" charset="-122"/>
                <a:cs typeface="Calibri" pitchFamily="34" charset="-120"/>
              </a:rPr>
              <a:t>Real ₹ figures</a:t>
            </a:r>
            <a:endParaRPr lang="en-US" sz="1500" dirty="0"/>
          </a:p>
        </p:txBody>
      </p:sp>
      <p:sp>
        <p:nvSpPr>
          <p:cNvPr id="8" name="Text 5"/>
          <p:cNvSpPr/>
          <p:nvPr/>
        </p:nvSpPr>
        <p:spPr>
          <a:xfrm>
            <a:off x="8275320" y="2075688"/>
            <a:ext cx="3383280" cy="658368"/>
          </a:xfrm>
          <a:prstGeom prst="rect">
            <a:avLst/>
          </a:prstGeom>
          <a:noFill/>
          <a:ln/>
        </p:spPr>
        <p:txBody>
          <a:bodyPr wrap="square" rtlCol="0" anchor="ctr"/>
          <a:lstStyle/>
          <a:p>
            <a:pPr indent="0" marL="0">
              <a:lnSpc>
                <a:spcPct val="100000"/>
              </a:lnSpc>
              <a:buNone/>
            </a:pPr>
            <a:r>
              <a:rPr lang="en-US" sz="1250" dirty="0">
                <a:solidFill>
                  <a:srgbClr val="16283F"/>
                </a:solidFill>
                <a:latin typeface="Calibri" pitchFamily="34" charset="0"/>
                <a:ea typeface="Calibri" pitchFamily="34" charset="-122"/>
                <a:cs typeface="Calibri" pitchFamily="34" charset="-120"/>
              </a:rPr>
              <a:t>Top gaps returned with rupee-crore exposure, not vague advice.</a:t>
            </a:r>
            <a:endParaRPr lang="en-US" sz="1250" dirty="0"/>
          </a:p>
        </p:txBody>
      </p:sp>
      <p:sp>
        <p:nvSpPr>
          <p:cNvPr id="9" name="Text 6"/>
          <p:cNvSpPr/>
          <p:nvPr/>
        </p:nvSpPr>
        <p:spPr>
          <a:xfrm>
            <a:off x="8275320" y="2862072"/>
            <a:ext cx="3383280" cy="292608"/>
          </a:xfrm>
          <a:prstGeom prst="rect">
            <a:avLst/>
          </a:prstGeom>
          <a:noFill/>
          <a:ln/>
        </p:spPr>
        <p:txBody>
          <a:bodyPr wrap="square" rtlCol="0" anchor="ctr"/>
          <a:lstStyle/>
          <a:p>
            <a:pPr indent="0" marL="0">
              <a:buNone/>
            </a:pPr>
            <a:r>
              <a:rPr lang="en-US" sz="1500" b="1" dirty="0">
                <a:solidFill>
                  <a:srgbClr val="E4843A"/>
                </a:solidFill>
                <a:latin typeface="Calibri" pitchFamily="34" charset="0"/>
                <a:ea typeface="Calibri" pitchFamily="34" charset="-122"/>
                <a:cs typeface="Calibri" pitchFamily="34" charset="-120"/>
              </a:rPr>
              <a:t>Every claim cited</a:t>
            </a:r>
            <a:endParaRPr lang="en-US" sz="1500" dirty="0"/>
          </a:p>
        </p:txBody>
      </p:sp>
      <p:sp>
        <p:nvSpPr>
          <p:cNvPr id="10" name="Text 7"/>
          <p:cNvSpPr/>
          <p:nvPr/>
        </p:nvSpPr>
        <p:spPr>
          <a:xfrm>
            <a:off x="8275320" y="3154680"/>
            <a:ext cx="3383280" cy="658368"/>
          </a:xfrm>
          <a:prstGeom prst="rect">
            <a:avLst/>
          </a:prstGeom>
          <a:noFill/>
          <a:ln/>
        </p:spPr>
        <p:txBody>
          <a:bodyPr wrap="square" rtlCol="0" anchor="ctr"/>
          <a:lstStyle/>
          <a:p>
            <a:pPr indent="0" marL="0">
              <a:lnSpc>
                <a:spcPct val="100000"/>
              </a:lnSpc>
              <a:buNone/>
            </a:pPr>
            <a:r>
              <a:rPr lang="en-US" sz="1250" dirty="0">
                <a:solidFill>
                  <a:srgbClr val="16283F"/>
                </a:solidFill>
                <a:latin typeface="Calibri" pitchFamily="34" charset="0"/>
                <a:ea typeface="Calibri" pitchFamily="34" charset="-122"/>
                <a:cs typeface="Calibri" pitchFamily="34" charset="-120"/>
              </a:rPr>
              <a:t>Answers tied to CEA specs and the plant’s own documents.</a:t>
            </a:r>
            <a:endParaRPr lang="en-US" sz="1250" dirty="0"/>
          </a:p>
        </p:txBody>
      </p:sp>
      <p:sp>
        <p:nvSpPr>
          <p:cNvPr id="11" name="Text 8"/>
          <p:cNvSpPr/>
          <p:nvPr/>
        </p:nvSpPr>
        <p:spPr>
          <a:xfrm>
            <a:off x="8275320" y="3941064"/>
            <a:ext cx="3383280" cy="292608"/>
          </a:xfrm>
          <a:prstGeom prst="rect">
            <a:avLst/>
          </a:prstGeom>
          <a:noFill/>
          <a:ln/>
        </p:spPr>
        <p:txBody>
          <a:bodyPr wrap="square" rtlCol="0" anchor="ctr"/>
          <a:lstStyle/>
          <a:p>
            <a:pPr indent="0" marL="0">
              <a:buNone/>
            </a:pPr>
            <a:r>
              <a:rPr lang="en-US" sz="1500" b="1" dirty="0">
                <a:solidFill>
                  <a:srgbClr val="E4843A"/>
                </a:solidFill>
                <a:latin typeface="Calibri" pitchFamily="34" charset="0"/>
                <a:ea typeface="Calibri" pitchFamily="34" charset="-122"/>
                <a:cs typeface="Calibri" pitchFamily="34" charset="-120"/>
              </a:rPr>
              <a:t>Regulation-aware</a:t>
            </a:r>
            <a:endParaRPr lang="en-US" sz="1500" dirty="0"/>
          </a:p>
        </p:txBody>
      </p:sp>
      <p:sp>
        <p:nvSpPr>
          <p:cNvPr id="12" name="Text 9"/>
          <p:cNvSpPr/>
          <p:nvPr/>
        </p:nvSpPr>
        <p:spPr>
          <a:xfrm>
            <a:off x="8275320" y="4233672"/>
            <a:ext cx="3383280" cy="658368"/>
          </a:xfrm>
          <a:prstGeom prst="rect">
            <a:avLst/>
          </a:prstGeom>
          <a:noFill/>
          <a:ln/>
        </p:spPr>
        <p:txBody>
          <a:bodyPr wrap="square" rtlCol="0" anchor="ctr"/>
          <a:lstStyle/>
          <a:p>
            <a:pPr indent="0" marL="0">
              <a:lnSpc>
                <a:spcPct val="100000"/>
              </a:lnSpc>
              <a:buNone/>
            </a:pPr>
            <a:r>
              <a:rPr lang="en-US" sz="1250" dirty="0">
                <a:solidFill>
                  <a:srgbClr val="16283F"/>
                </a:solidFill>
                <a:latin typeface="Calibri" pitchFamily="34" charset="0"/>
                <a:ea typeface="Calibri" pitchFamily="34" charset="-122"/>
                <a:cs typeface="Calibri" pitchFamily="34" charset="-120"/>
              </a:rPr>
              <a:t>Names the CEA / ISO / tariff clause that mandates each item.</a:t>
            </a:r>
            <a:endParaRPr lang="en-US" sz="1250" dirty="0"/>
          </a:p>
        </p:txBody>
      </p:sp>
      <p:sp>
        <p:nvSpPr>
          <p:cNvPr id="13" name="Text 10"/>
          <p:cNvSpPr/>
          <p:nvPr/>
        </p:nvSpPr>
        <p:spPr>
          <a:xfrm>
            <a:off x="8275320" y="5020056"/>
            <a:ext cx="3383280" cy="292608"/>
          </a:xfrm>
          <a:prstGeom prst="rect">
            <a:avLst/>
          </a:prstGeom>
          <a:noFill/>
          <a:ln/>
        </p:spPr>
        <p:txBody>
          <a:bodyPr wrap="square" rtlCol="0" anchor="ctr"/>
          <a:lstStyle/>
          <a:p>
            <a:pPr indent="0" marL="0">
              <a:buNone/>
            </a:pPr>
            <a:r>
              <a:rPr lang="en-US" sz="1500" b="1" dirty="0">
                <a:solidFill>
                  <a:srgbClr val="E4843A"/>
                </a:solidFill>
                <a:latin typeface="Calibri" pitchFamily="34" charset="0"/>
                <a:ea typeface="Calibri" pitchFamily="34" charset="-122"/>
                <a:cs typeface="Calibri" pitchFamily="34" charset="-120"/>
              </a:rPr>
              <a:t>Graph hand-off</a:t>
            </a:r>
            <a:endParaRPr lang="en-US" sz="1500" dirty="0"/>
          </a:p>
        </p:txBody>
      </p:sp>
      <p:sp>
        <p:nvSpPr>
          <p:cNvPr id="14" name="Text 11"/>
          <p:cNvSpPr/>
          <p:nvPr/>
        </p:nvSpPr>
        <p:spPr>
          <a:xfrm>
            <a:off x="8275320" y="5312664"/>
            <a:ext cx="3383280" cy="658368"/>
          </a:xfrm>
          <a:prstGeom prst="rect">
            <a:avLst/>
          </a:prstGeom>
          <a:noFill/>
          <a:ln/>
        </p:spPr>
        <p:txBody>
          <a:bodyPr wrap="square" rtlCol="0" anchor="ctr"/>
          <a:lstStyle/>
          <a:p>
            <a:pPr indent="0" marL="0">
              <a:lnSpc>
                <a:spcPct val="100000"/>
              </a:lnSpc>
              <a:buNone/>
            </a:pPr>
            <a:r>
              <a:rPr lang="en-US" sz="1250" dirty="0">
                <a:solidFill>
                  <a:srgbClr val="16283F"/>
                </a:solidFill>
                <a:latin typeface="Calibri" pitchFamily="34" charset="0"/>
                <a:ea typeface="Calibri" pitchFamily="34" charset="-122"/>
                <a:cs typeface="Calibri" pitchFamily="34" charset="-120"/>
              </a:rPr>
              <a:t>One click jumps to the failure mode in the knowledge graph.</a:t>
            </a:r>
            <a:endParaRPr lang="en-US" sz="1250" dirty="0"/>
          </a:p>
        </p:txBody>
      </p:sp>
      <p:sp>
        <p:nvSpPr>
          <p:cNvPr id="15" name="Text 12"/>
          <p:cNvSpPr/>
          <p:nvPr/>
        </p:nvSpPr>
        <p:spPr>
          <a:xfrm>
            <a:off x="9966960" y="6455664"/>
            <a:ext cx="1828800" cy="274320"/>
          </a:xfrm>
          <a:prstGeom prst="rect">
            <a:avLst/>
          </a:prstGeom>
          <a:noFill/>
          <a:ln/>
        </p:spPr>
        <p:txBody>
          <a:bodyPr wrap="square"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05 · ThermIQ</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128016" cy="384048"/>
          </a:xfrm>
          <a:prstGeom prst="rect">
            <a:avLst/>
          </a:prstGeom>
          <a:solidFill>
            <a:srgbClr val="E4843A"/>
          </a:solidFill>
          <a:ln/>
        </p:spPr>
      </p:sp>
      <p:sp>
        <p:nvSpPr>
          <p:cNvPr id="3" name="Text 1"/>
          <p:cNvSpPr/>
          <p:nvPr/>
        </p:nvSpPr>
        <p:spPr>
          <a:xfrm>
            <a:off x="804672" y="493776"/>
            <a:ext cx="10607040" cy="256032"/>
          </a:xfrm>
          <a:prstGeom prst="rect">
            <a:avLst/>
          </a:prstGeom>
          <a:noFill/>
          <a:ln/>
        </p:spPr>
        <p:txBody>
          <a:bodyPr wrap="square" rtlCol="0" anchor="ctr"/>
          <a:lstStyle/>
          <a:p>
            <a:pPr indent="0" marL="0">
              <a:buNone/>
            </a:pPr>
            <a:r>
              <a:rPr lang="en-US" sz="1200" b="1" spc="200" kern="0" dirty="0">
                <a:solidFill>
                  <a:srgbClr val="E4843A"/>
                </a:solidFill>
                <a:latin typeface="Calibri" pitchFamily="34" charset="0"/>
                <a:ea typeface="Calibri" pitchFamily="34" charset="-122"/>
                <a:cs typeface="Calibri" pitchFamily="34" charset="-120"/>
              </a:rPr>
              <a:t>SEE IT LIVE · 2</a:t>
            </a:r>
            <a:endParaRPr lang="en-US" sz="1200" dirty="0"/>
          </a:p>
        </p:txBody>
      </p:sp>
      <p:sp>
        <p:nvSpPr>
          <p:cNvPr id="4" name="Text 2"/>
          <p:cNvSpPr/>
          <p:nvPr/>
        </p:nvSpPr>
        <p:spPr>
          <a:xfrm>
            <a:off x="786384" y="731520"/>
            <a:ext cx="10789920" cy="658368"/>
          </a:xfrm>
          <a:prstGeom prst="rect">
            <a:avLst/>
          </a:prstGeom>
          <a:noFill/>
          <a:ln/>
        </p:spPr>
        <p:txBody>
          <a:bodyPr wrap="square" rtlCol="0" anchor="ctr"/>
          <a:lstStyle/>
          <a:p>
            <a:pPr indent="0" marL="0">
              <a:buNone/>
            </a:pPr>
            <a:r>
              <a:rPr lang="en-US" sz="3000" b="1" dirty="0">
                <a:solidFill>
                  <a:srgbClr val="16283F"/>
                </a:solidFill>
                <a:latin typeface="Cambria" pitchFamily="34" charset="0"/>
                <a:ea typeface="Cambria" pitchFamily="34" charset="-122"/>
                <a:cs typeface="Cambria" pitchFamily="34" charset="-120"/>
              </a:rPr>
              <a:t>The risk model — every number is sourced</a:t>
            </a:r>
            <a:endParaRPr lang="en-US" sz="3000" dirty="0"/>
          </a:p>
        </p:txBody>
      </p:sp>
      <p:sp>
        <p:nvSpPr>
          <p:cNvPr id="5" name="Shape 3"/>
          <p:cNvSpPr/>
          <p:nvPr/>
        </p:nvSpPr>
        <p:spPr>
          <a:xfrm>
            <a:off x="566928" y="1627632"/>
            <a:ext cx="6400800" cy="658368"/>
          </a:xfrm>
          <a:prstGeom prst="roundRect">
            <a:avLst>
              <a:gd name="adj" fmla="val 8333"/>
            </a:avLst>
          </a:prstGeom>
          <a:solidFill>
            <a:srgbClr val="0E1E33"/>
          </a:solidFill>
          <a:ln/>
        </p:spPr>
      </p:sp>
      <p:sp>
        <p:nvSpPr>
          <p:cNvPr id="6" name="Text 4"/>
          <p:cNvSpPr/>
          <p:nvPr/>
        </p:nvSpPr>
        <p:spPr>
          <a:xfrm>
            <a:off x="566928" y="1627632"/>
            <a:ext cx="6400800" cy="658368"/>
          </a:xfrm>
          <a:prstGeom prst="rect">
            <a:avLst/>
          </a:prstGeom>
          <a:noFill/>
          <a:ln/>
        </p:spPr>
        <p:txBody>
          <a:bodyPr wrap="square" rtlCol="0" anchor="ctr"/>
          <a:lstStyle/>
          <a:p>
            <a:pPr algn="ctr" indent="0" marL="0">
              <a:buNone/>
            </a:pPr>
            <a:r>
              <a:rPr lang="en-US" sz="1450" b="1" dirty="0">
                <a:solidFill>
                  <a:srgbClr val="F2A65A"/>
                </a:solidFill>
                <a:latin typeface="Consolas" pitchFamily="34" charset="0"/>
                <a:ea typeface="Consolas" pitchFamily="34" charset="-122"/>
                <a:cs typeface="Consolas" pitchFamily="34" charset="-120"/>
              </a:rPr>
              <a:t>risk</a:t>
            </a:r>
            <a:pPr algn="ctr" indent="0" marL="0">
              <a:buNone/>
            </a:pPr>
            <a:r>
              <a:rPr lang="en-US" sz="1450" dirty="0">
                <a:solidFill>
                  <a:srgbClr val="FFFFFF"/>
                </a:solidFill>
                <a:latin typeface="Consolas" pitchFamily="34" charset="0"/>
                <a:ea typeface="Consolas" pitchFamily="34" charset="-122"/>
                <a:cs typeface="Consolas" pitchFamily="34" charset="-120"/>
              </a:rPr>
              <a:t>  =  criticality </a:t>
            </a:r>
            <a:pPr algn="ctr" indent="0" marL="0">
              <a:buNone/>
            </a:pPr>
            <a:r>
              <a:rPr lang="en-US" sz="1450" dirty="0">
                <a:solidFill>
                  <a:srgbClr val="9FB1C9"/>
                </a:solidFill>
                <a:latin typeface="Consolas" pitchFamily="34" charset="0"/>
                <a:ea typeface="Consolas" pitchFamily="34" charset="-122"/>
                <a:cs typeface="Consolas" pitchFamily="34" charset="-120"/>
              </a:rPr>
              <a:t>(1–5)</a:t>
            </a:r>
            <a:pPr algn="ctr" indent="0" marL="0">
              <a:buNone/>
            </a:pPr>
            <a:r>
              <a:rPr lang="en-US" sz="1450" dirty="0">
                <a:solidFill>
                  <a:srgbClr val="FFFFFF"/>
                </a:solidFill>
                <a:latin typeface="Consolas" pitchFamily="34" charset="0"/>
                <a:ea typeface="Consolas" pitchFamily="34" charset="-122"/>
                <a:cs typeface="Consolas" pitchFamily="34" charset="-120"/>
              </a:rPr>
              <a:t>  ×  consequence </a:t>
            </a:r>
            <a:pPr algn="ctr" indent="0" marL="0">
              <a:buNone/>
            </a:pPr>
            <a:r>
              <a:rPr lang="en-US" sz="1450" dirty="0">
                <a:solidFill>
                  <a:srgbClr val="9FB1C9"/>
                </a:solidFill>
                <a:latin typeface="Consolas" pitchFamily="34" charset="0"/>
                <a:ea typeface="Consolas" pitchFamily="34" charset="-122"/>
                <a:cs typeface="Consolas" pitchFamily="34" charset="-120"/>
              </a:rPr>
              <a:t>(₹ Cr)</a:t>
            </a:r>
            <a:pPr algn="ctr" indent="0" marL="0">
              <a:buNone/>
            </a:pPr>
            <a:r>
              <a:rPr lang="en-US" sz="1450" dirty="0">
                <a:solidFill>
                  <a:srgbClr val="FFFFFF"/>
                </a:solidFill>
                <a:latin typeface="Consolas" pitchFamily="34" charset="0"/>
                <a:ea typeface="Consolas" pitchFamily="34" charset="-122"/>
                <a:cs typeface="Consolas" pitchFamily="34" charset="-120"/>
              </a:rPr>
              <a:t>  ×  exposure </a:t>
            </a:r>
            <a:pPr algn="ctr" indent="0" marL="0">
              <a:buNone/>
            </a:pPr>
            <a:r>
              <a:rPr lang="en-US" sz="1450" dirty="0">
                <a:solidFill>
                  <a:srgbClr val="9FB1C9"/>
                </a:solidFill>
                <a:latin typeface="Consolas" pitchFamily="34" charset="0"/>
                <a:ea typeface="Consolas" pitchFamily="34" charset="-122"/>
                <a:cs typeface="Consolas" pitchFamily="34" charset="-120"/>
              </a:rPr>
              <a:t>(0–1)</a:t>
            </a:r>
            <a:endParaRPr lang="en-US" sz="1450" dirty="0"/>
          </a:p>
        </p:txBody>
      </p:sp>
      <p:sp>
        <p:nvSpPr>
          <p:cNvPr id="7" name="Text 5"/>
          <p:cNvSpPr/>
          <p:nvPr/>
        </p:nvSpPr>
        <p:spPr>
          <a:xfrm>
            <a:off x="566928" y="2487168"/>
            <a:ext cx="1828800" cy="658368"/>
          </a:xfrm>
          <a:prstGeom prst="rect">
            <a:avLst/>
          </a:prstGeom>
          <a:noFill/>
          <a:ln/>
        </p:spPr>
        <p:txBody>
          <a:bodyPr wrap="square" rtlCol="0" anchor="t"/>
          <a:lstStyle/>
          <a:p>
            <a:pPr indent="0" marL="0">
              <a:buNone/>
            </a:pPr>
            <a:r>
              <a:rPr lang="en-US" sz="1500" b="1" dirty="0">
                <a:solidFill>
                  <a:srgbClr val="E4843A"/>
                </a:solidFill>
                <a:latin typeface="Calibri" pitchFamily="34" charset="0"/>
                <a:ea typeface="Calibri" pitchFamily="34" charset="-122"/>
                <a:cs typeface="Calibri" pitchFamily="34" charset="-120"/>
              </a:rPr>
              <a:t>Criticality</a:t>
            </a:r>
            <a:endParaRPr lang="en-US" sz="1500" dirty="0"/>
          </a:p>
        </p:txBody>
      </p:sp>
      <p:sp>
        <p:nvSpPr>
          <p:cNvPr id="8" name="Text 6"/>
          <p:cNvSpPr/>
          <p:nvPr/>
        </p:nvSpPr>
        <p:spPr>
          <a:xfrm>
            <a:off x="2331720" y="2487168"/>
            <a:ext cx="4617720" cy="731520"/>
          </a:xfrm>
          <a:prstGeom prst="rect">
            <a:avLst/>
          </a:prstGeom>
          <a:noFill/>
          <a:ln/>
        </p:spPr>
        <p:txBody>
          <a:bodyPr wrap="square" rtlCol="0" anchor="ctr"/>
          <a:lstStyle/>
          <a:p>
            <a:pPr indent="0" marL="0">
              <a:lnSpc>
                <a:spcPct val="100000"/>
              </a:lnSpc>
              <a:buNone/>
            </a:pPr>
            <a:r>
              <a:rPr lang="en-US" sz="1250" dirty="0">
                <a:solidFill>
                  <a:srgbClr val="16283F"/>
                </a:solidFill>
                <a:latin typeface="Calibri" pitchFamily="34" charset="0"/>
                <a:ea typeface="Calibri" pitchFamily="34" charset="-122"/>
                <a:cs typeface="Calibri" pitchFamily="34" charset="-120"/>
              </a:rPr>
              <a:t>CEA outage frequency + CERC rules. Boiler failures lead forced outages (Vasudha 2022, 735 units).</a:t>
            </a:r>
            <a:endParaRPr lang="en-US" sz="1250" dirty="0"/>
          </a:p>
        </p:txBody>
      </p:sp>
      <p:sp>
        <p:nvSpPr>
          <p:cNvPr id="9" name="Text 7"/>
          <p:cNvSpPr/>
          <p:nvPr/>
        </p:nvSpPr>
        <p:spPr>
          <a:xfrm>
            <a:off x="566928" y="3273552"/>
            <a:ext cx="1828800" cy="658368"/>
          </a:xfrm>
          <a:prstGeom prst="rect">
            <a:avLst/>
          </a:prstGeom>
          <a:noFill/>
          <a:ln/>
        </p:spPr>
        <p:txBody>
          <a:bodyPr wrap="square" rtlCol="0" anchor="t"/>
          <a:lstStyle/>
          <a:p>
            <a:pPr indent="0" marL="0">
              <a:buNone/>
            </a:pPr>
            <a:r>
              <a:rPr lang="en-US" sz="1500" b="1" dirty="0">
                <a:solidFill>
                  <a:srgbClr val="E4843A"/>
                </a:solidFill>
                <a:latin typeface="Calibri" pitchFamily="34" charset="0"/>
                <a:ea typeface="Calibri" pitchFamily="34" charset="-122"/>
                <a:cs typeface="Calibri" pitchFamily="34" charset="-120"/>
              </a:rPr>
              <a:t>Consequence</a:t>
            </a:r>
            <a:endParaRPr lang="en-US" sz="1500" dirty="0"/>
          </a:p>
        </p:txBody>
      </p:sp>
      <p:sp>
        <p:nvSpPr>
          <p:cNvPr id="10" name="Text 8"/>
          <p:cNvSpPr/>
          <p:nvPr/>
        </p:nvSpPr>
        <p:spPr>
          <a:xfrm>
            <a:off x="2331720" y="3273552"/>
            <a:ext cx="4617720" cy="731520"/>
          </a:xfrm>
          <a:prstGeom prst="rect">
            <a:avLst/>
          </a:prstGeom>
          <a:noFill/>
          <a:ln/>
        </p:spPr>
        <p:txBody>
          <a:bodyPr wrap="square" rtlCol="0" anchor="ctr"/>
          <a:lstStyle/>
          <a:p>
            <a:pPr indent="0" marL="0">
              <a:lnSpc>
                <a:spcPct val="100000"/>
              </a:lnSpc>
              <a:buNone/>
            </a:pPr>
            <a:r>
              <a:rPr lang="en-US" sz="1250" dirty="0">
                <a:solidFill>
                  <a:srgbClr val="16283F"/>
                </a:solidFill>
                <a:latin typeface="Calibri" pitchFamily="34" charset="0"/>
                <a:ea typeface="Calibri" pitchFamily="34" charset="-122"/>
                <a:cs typeface="Calibri" pitchFamily="34" charset="-120"/>
              </a:rPr>
              <a:t>Avg revenue lost per real CEA forced-outage event, at ₹5/kWh (LBNL/Ember 2024).</a:t>
            </a:r>
            <a:endParaRPr lang="en-US" sz="1250" dirty="0"/>
          </a:p>
        </p:txBody>
      </p:sp>
      <p:sp>
        <p:nvSpPr>
          <p:cNvPr id="11" name="Text 9"/>
          <p:cNvSpPr/>
          <p:nvPr/>
        </p:nvSpPr>
        <p:spPr>
          <a:xfrm>
            <a:off x="566928" y="4059936"/>
            <a:ext cx="1828800" cy="658368"/>
          </a:xfrm>
          <a:prstGeom prst="rect">
            <a:avLst/>
          </a:prstGeom>
          <a:noFill/>
          <a:ln/>
        </p:spPr>
        <p:txBody>
          <a:bodyPr wrap="square" rtlCol="0" anchor="t"/>
          <a:lstStyle/>
          <a:p>
            <a:pPr indent="0" marL="0">
              <a:buNone/>
            </a:pPr>
            <a:r>
              <a:rPr lang="en-US" sz="1500" b="1" dirty="0">
                <a:solidFill>
                  <a:srgbClr val="E4843A"/>
                </a:solidFill>
                <a:latin typeface="Calibri" pitchFamily="34" charset="0"/>
                <a:ea typeface="Calibri" pitchFamily="34" charset="-122"/>
                <a:cs typeface="Calibri" pitchFamily="34" charset="-120"/>
              </a:rPr>
              <a:t>Exposure</a:t>
            </a:r>
            <a:endParaRPr lang="en-US" sz="1500" dirty="0"/>
          </a:p>
        </p:txBody>
      </p:sp>
      <p:sp>
        <p:nvSpPr>
          <p:cNvPr id="12" name="Text 10"/>
          <p:cNvSpPr/>
          <p:nvPr/>
        </p:nvSpPr>
        <p:spPr>
          <a:xfrm>
            <a:off x="2331720" y="4059936"/>
            <a:ext cx="4617720" cy="731520"/>
          </a:xfrm>
          <a:prstGeom prst="rect">
            <a:avLst/>
          </a:prstGeom>
          <a:noFill/>
          <a:ln/>
        </p:spPr>
        <p:txBody>
          <a:bodyPr wrap="square" rtlCol="0" anchor="ctr"/>
          <a:lstStyle/>
          <a:p>
            <a:pPr indent="0" marL="0">
              <a:lnSpc>
                <a:spcPct val="100000"/>
              </a:lnSpc>
              <a:buNone/>
            </a:pPr>
            <a:r>
              <a:rPr lang="en-US" sz="1250" dirty="0">
                <a:solidFill>
                  <a:srgbClr val="16283F"/>
                </a:solidFill>
                <a:latin typeface="Calibri" pitchFamily="34" charset="0"/>
                <a:ea typeface="Calibri" pitchFamily="34" charset="-122"/>
                <a:cs typeface="Calibri" pitchFamily="34" charset="-120"/>
              </a:rPr>
              <a:t>1 − best semantic match of the topic vs the plant’s own documents (Jina v3).</a:t>
            </a:r>
            <a:endParaRPr lang="en-US" sz="1250" dirty="0"/>
          </a:p>
        </p:txBody>
      </p:sp>
      <p:sp>
        <p:nvSpPr>
          <p:cNvPr id="13" name="Shape 11"/>
          <p:cNvSpPr/>
          <p:nvPr/>
        </p:nvSpPr>
        <p:spPr>
          <a:xfrm>
            <a:off x="566928" y="4983480"/>
            <a:ext cx="6400800" cy="1051560"/>
          </a:xfrm>
          <a:prstGeom prst="roundRect">
            <a:avLst>
              <a:gd name="adj" fmla="val 5217"/>
            </a:avLst>
          </a:prstGeom>
          <a:solidFill>
            <a:srgbClr val="FBEFE4"/>
          </a:solidFill>
          <a:ln w="12700">
            <a:solidFill>
              <a:srgbClr val="E4843A"/>
            </a:solidFill>
            <a:prstDash val="solid"/>
          </a:ln>
        </p:spPr>
      </p:sp>
      <p:sp>
        <p:nvSpPr>
          <p:cNvPr id="14" name="Text 12"/>
          <p:cNvSpPr/>
          <p:nvPr/>
        </p:nvSpPr>
        <p:spPr>
          <a:xfrm>
            <a:off x="822960" y="5074920"/>
            <a:ext cx="6035040" cy="502920"/>
          </a:xfrm>
          <a:prstGeom prst="rect">
            <a:avLst/>
          </a:prstGeom>
          <a:noFill/>
          <a:ln/>
        </p:spPr>
        <p:txBody>
          <a:bodyPr wrap="square" rtlCol="0" anchor="ctr"/>
          <a:lstStyle/>
          <a:p>
            <a:pPr indent="0" marL="0">
              <a:buNone/>
            </a:pPr>
            <a:r>
              <a:rPr lang="en-US" sz="3200" b="1" dirty="0">
                <a:solidFill>
                  <a:srgbClr val="E4843A"/>
                </a:solidFill>
                <a:latin typeface="Cambria" pitchFamily="34" charset="0"/>
                <a:ea typeface="Cambria" pitchFamily="34" charset="-122"/>
                <a:cs typeface="Cambria" pitchFamily="34" charset="-120"/>
              </a:rPr>
              <a:t>₹416.4 Cr</a:t>
            </a:r>
            <a:pPr indent="0" marL="0">
              <a:buNone/>
            </a:pPr>
            <a:r>
              <a:rPr lang="en-US" sz="1500" dirty="0">
                <a:solidFill>
                  <a:srgbClr val="16283F"/>
                </a:solidFill>
                <a:latin typeface="Cambria" pitchFamily="34" charset="0"/>
                <a:ea typeface="Cambria" pitchFamily="34" charset="-122"/>
                <a:cs typeface="Cambria" pitchFamily="34" charset="-120"/>
              </a:rPr>
              <a:t>  total quantified risk</a:t>
            </a:r>
            <a:endParaRPr lang="en-US" sz="3200" dirty="0"/>
          </a:p>
        </p:txBody>
      </p:sp>
      <p:sp>
        <p:nvSpPr>
          <p:cNvPr id="15" name="Text 13"/>
          <p:cNvSpPr/>
          <p:nvPr/>
        </p:nvSpPr>
        <p:spPr>
          <a:xfrm>
            <a:off x="822960" y="5559552"/>
            <a:ext cx="5943600" cy="365760"/>
          </a:xfrm>
          <a:prstGeom prst="rect">
            <a:avLst/>
          </a:prstGeom>
          <a:noFill/>
          <a:ln/>
        </p:spPr>
        <p:txBody>
          <a:bodyPr wrap="square" rtlCol="0" anchor="ctr"/>
          <a:lstStyle/>
          <a:p>
            <a:pPr indent="0" marL="0">
              <a:buNone/>
            </a:pPr>
            <a:r>
              <a:rPr lang="en-US" sz="1200" i="1" dirty="0">
                <a:solidFill>
                  <a:srgbClr val="5C6B7E"/>
                </a:solidFill>
                <a:latin typeface="Calibri" pitchFamily="34" charset="0"/>
                <a:ea typeface="Calibri" pitchFamily="34" charset="-122"/>
                <a:cs typeface="Calibri" pitchFamily="34" charset="-120"/>
              </a:rPr>
              <a:t>NTPC today — 19 scored gaps, every figure traceable to its CEA / CERC source.</a:t>
            </a:r>
            <a:endParaRPr lang="en-US" sz="1200" dirty="0"/>
          </a:p>
        </p:txBody>
      </p:sp>
      <p:sp>
        <p:nvSpPr>
          <p:cNvPr id="16" name="Shape 14"/>
          <p:cNvSpPr/>
          <p:nvPr/>
        </p:nvSpPr>
        <p:spPr>
          <a:xfrm>
            <a:off x="7232904" y="1746504"/>
            <a:ext cx="4462272" cy="2437980"/>
          </a:xfrm>
          <a:prstGeom prst="rect">
            <a:avLst/>
          </a:prstGeom>
          <a:solidFill>
            <a:srgbClr val="FFFFFF"/>
          </a:solidFill>
          <a:ln w="12700">
            <a:solidFill>
              <a:srgbClr val="D5DEE8"/>
            </a:solidFill>
            <a:prstDash val="solid"/>
          </a:ln>
          <a:effectLst>
            <a:outerShdw sx="100000" sy="100000" kx="0" ky="0" algn="bl" rotWithShape="0" blurRad="114300" dist="38100" dir="5400000">
              <a:srgbClr val="9AA9BC">
                <a:alpha val="45000"/>
              </a:srgbClr>
            </a:outerShdw>
          </a:effectLst>
        </p:spPr>
      </p:sp>
      <p:pic>
        <p:nvPicPr>
          <p:cNvPr id="17" name="Image 0" descr="/sessions/fervent-compassionate-franklin/mnt/ET AI Hackathon/deck_assets/05c_risk_dashboard_gap_table.jpg">    </p:cNvPr>
          <p:cNvPicPr>
            <a:picLocks noChangeAspect="1"/>
          </p:cNvPicPr>
          <p:nvPr/>
        </p:nvPicPr>
        <p:blipFill>
          <a:blip r:embed="rId1"/>
          <a:stretch>
            <a:fillRect/>
          </a:stretch>
        </p:blipFill>
        <p:spPr>
          <a:xfrm>
            <a:off x="7269480" y="1783080"/>
            <a:ext cx="4389120" cy="2364828"/>
          </a:xfrm>
          <a:prstGeom prst="rect">
            <a:avLst/>
          </a:prstGeom>
        </p:spPr>
      </p:pic>
      <p:sp>
        <p:nvSpPr>
          <p:cNvPr id="18" name="Text 15"/>
          <p:cNvSpPr/>
          <p:nvPr/>
        </p:nvSpPr>
        <p:spPr>
          <a:xfrm>
            <a:off x="7269480" y="4224528"/>
            <a:ext cx="4389120" cy="274320"/>
          </a:xfrm>
          <a:prstGeom prst="rect">
            <a:avLst/>
          </a:prstGeom>
          <a:noFill/>
          <a:ln/>
        </p:spPr>
        <p:txBody>
          <a:bodyPr wrap="square" rtlCol="0" anchor="ctr"/>
          <a:lstStyle/>
          <a:p>
            <a:pPr algn="ctr" indent="0" marL="0">
              <a:buNone/>
            </a:pPr>
            <a:r>
              <a:rPr lang="en-US" sz="1100" i="1" dirty="0">
                <a:solidFill>
                  <a:srgbClr val="5C6B7E"/>
                </a:solidFill>
                <a:latin typeface="Calibri" pitchFamily="34" charset="0"/>
                <a:ea typeface="Calibri" pitchFamily="34" charset="-122"/>
                <a:cs typeface="Calibri" pitchFamily="34" charset="-120"/>
              </a:rPr>
              <a:t>Live risk register — per-row math shown</a:t>
            </a:r>
            <a:endParaRPr lang="en-US" sz="1100" dirty="0"/>
          </a:p>
        </p:txBody>
      </p:sp>
      <p:sp>
        <p:nvSpPr>
          <p:cNvPr id="19" name="Text 16"/>
          <p:cNvSpPr/>
          <p:nvPr/>
        </p:nvSpPr>
        <p:spPr>
          <a:xfrm>
            <a:off x="9966960" y="6455664"/>
            <a:ext cx="1828800" cy="274320"/>
          </a:xfrm>
          <a:prstGeom prst="rect">
            <a:avLst/>
          </a:prstGeom>
          <a:noFill/>
          <a:ln/>
        </p:spPr>
        <p:txBody>
          <a:bodyPr wrap="square"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06 · ThermIQ</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128016" cy="384048"/>
          </a:xfrm>
          <a:prstGeom prst="rect">
            <a:avLst/>
          </a:prstGeom>
          <a:solidFill>
            <a:srgbClr val="E4843A"/>
          </a:solidFill>
          <a:ln/>
        </p:spPr>
      </p:sp>
      <p:sp>
        <p:nvSpPr>
          <p:cNvPr id="3" name="Text 1"/>
          <p:cNvSpPr/>
          <p:nvPr/>
        </p:nvSpPr>
        <p:spPr>
          <a:xfrm>
            <a:off x="804672" y="493776"/>
            <a:ext cx="10607040" cy="256032"/>
          </a:xfrm>
          <a:prstGeom prst="rect">
            <a:avLst/>
          </a:prstGeom>
          <a:noFill/>
          <a:ln/>
        </p:spPr>
        <p:txBody>
          <a:bodyPr wrap="square" rtlCol="0" anchor="ctr"/>
          <a:lstStyle/>
          <a:p>
            <a:pPr indent="0" marL="0">
              <a:buNone/>
            </a:pPr>
            <a:r>
              <a:rPr lang="en-US" sz="1200" b="1" spc="200" kern="0" dirty="0">
                <a:solidFill>
                  <a:srgbClr val="E4843A"/>
                </a:solidFill>
                <a:latin typeface="Calibri" pitchFamily="34" charset="0"/>
                <a:ea typeface="Calibri" pitchFamily="34" charset="-122"/>
                <a:cs typeface="Calibri" pitchFamily="34" charset="-120"/>
              </a:rPr>
              <a:t>SEE IT LIVE · 3</a:t>
            </a:r>
            <a:endParaRPr lang="en-US" sz="1200" dirty="0"/>
          </a:p>
        </p:txBody>
      </p:sp>
      <p:sp>
        <p:nvSpPr>
          <p:cNvPr id="4" name="Text 2"/>
          <p:cNvSpPr/>
          <p:nvPr/>
        </p:nvSpPr>
        <p:spPr>
          <a:xfrm>
            <a:off x="786384" y="731520"/>
            <a:ext cx="10789920" cy="658368"/>
          </a:xfrm>
          <a:prstGeom prst="rect">
            <a:avLst/>
          </a:prstGeom>
          <a:noFill/>
          <a:ln/>
        </p:spPr>
        <p:txBody>
          <a:bodyPr wrap="square" rtlCol="0" anchor="ctr"/>
          <a:lstStyle/>
          <a:p>
            <a:pPr indent="0" marL="0">
              <a:buNone/>
            </a:pPr>
            <a:r>
              <a:rPr lang="en-US" sz="3000" b="1" dirty="0">
                <a:solidFill>
                  <a:srgbClr val="16283F"/>
                </a:solidFill>
                <a:latin typeface="Cambria" pitchFamily="34" charset="0"/>
                <a:ea typeface="Cambria" pitchFamily="34" charset="-122"/>
                <a:cs typeface="Cambria" pitchFamily="34" charset="-120"/>
              </a:rPr>
              <a:t>Knowledge graph — failure mode to regulation</a:t>
            </a:r>
            <a:endParaRPr lang="en-US" sz="3000" dirty="0"/>
          </a:p>
        </p:txBody>
      </p:sp>
      <p:sp>
        <p:nvSpPr>
          <p:cNvPr id="5" name="Shape 3"/>
          <p:cNvSpPr/>
          <p:nvPr/>
        </p:nvSpPr>
        <p:spPr>
          <a:xfrm>
            <a:off x="530352" y="1563624"/>
            <a:ext cx="7479792" cy="3767237"/>
          </a:xfrm>
          <a:prstGeom prst="rect">
            <a:avLst/>
          </a:prstGeom>
          <a:solidFill>
            <a:srgbClr val="FFFFFF"/>
          </a:solidFill>
          <a:ln w="12700">
            <a:solidFill>
              <a:srgbClr val="D5DEE8"/>
            </a:solidFill>
            <a:prstDash val="solid"/>
          </a:ln>
          <a:effectLst>
            <a:outerShdw sx="100000" sy="100000" kx="0" ky="0" algn="bl" rotWithShape="0" blurRad="114300" dist="38100" dir="5400000">
              <a:srgbClr val="9AA9BC">
                <a:alpha val="45000"/>
              </a:srgbClr>
            </a:outerShdw>
          </a:effectLst>
        </p:spPr>
      </p:sp>
      <p:pic>
        <p:nvPicPr>
          <p:cNvPr id="6" name="Image 0" descr="/sessions/fervent-compassionate-franklin/mnt/ET AI Hackathon/deck_assets/08_knowledge_graph_traversal.jpg">    </p:cNvPr>
          <p:cNvPicPr>
            <a:picLocks noChangeAspect="1"/>
          </p:cNvPicPr>
          <p:nvPr/>
        </p:nvPicPr>
        <p:blipFill>
          <a:blip r:embed="rId1"/>
          <a:stretch>
            <a:fillRect/>
          </a:stretch>
        </p:blipFill>
        <p:spPr>
          <a:xfrm>
            <a:off x="566928" y="1600200"/>
            <a:ext cx="7406640" cy="3694085"/>
          </a:xfrm>
          <a:prstGeom prst="rect">
            <a:avLst/>
          </a:prstGeom>
        </p:spPr>
      </p:pic>
      <p:sp>
        <p:nvSpPr>
          <p:cNvPr id="7" name="Text 4"/>
          <p:cNvSpPr/>
          <p:nvPr/>
        </p:nvSpPr>
        <p:spPr>
          <a:xfrm>
            <a:off x="8275320" y="1783080"/>
            <a:ext cx="3383280" cy="457200"/>
          </a:xfrm>
          <a:prstGeom prst="rect">
            <a:avLst/>
          </a:prstGeom>
          <a:noFill/>
          <a:ln/>
        </p:spPr>
        <p:txBody>
          <a:bodyPr wrap="square" rtlCol="0" anchor="ctr"/>
          <a:lstStyle/>
          <a:p>
            <a:pPr indent="0" marL="0">
              <a:buNone/>
            </a:pPr>
            <a:r>
              <a:rPr lang="en-US" sz="1350" b="1" dirty="0">
                <a:solidFill>
                  <a:srgbClr val="16283F"/>
                </a:solidFill>
                <a:latin typeface="Calibri" pitchFamily="34" charset="0"/>
                <a:ea typeface="Calibri" pitchFamily="34" charset="-122"/>
                <a:cs typeface="Calibri" pitchFamily="34" charset="-120"/>
              </a:rPr>
              <a:t>An auditable chain, not a dashboard number:</a:t>
            </a:r>
            <a:endParaRPr lang="en-US" sz="1350" dirty="0"/>
          </a:p>
        </p:txBody>
      </p:sp>
      <p:sp>
        <p:nvSpPr>
          <p:cNvPr id="8" name="Shape 5"/>
          <p:cNvSpPr/>
          <p:nvPr/>
        </p:nvSpPr>
        <p:spPr>
          <a:xfrm>
            <a:off x="8275320" y="2423160"/>
            <a:ext cx="73152" cy="384048"/>
          </a:xfrm>
          <a:prstGeom prst="rect">
            <a:avLst/>
          </a:prstGeom>
          <a:solidFill>
            <a:srgbClr val="0E1E33"/>
          </a:solidFill>
          <a:ln/>
        </p:spPr>
      </p:sp>
      <p:sp>
        <p:nvSpPr>
          <p:cNvPr id="9" name="Text 6"/>
          <p:cNvSpPr/>
          <p:nvPr/>
        </p:nvSpPr>
        <p:spPr>
          <a:xfrm>
            <a:off x="8485632" y="2377440"/>
            <a:ext cx="3200400" cy="548640"/>
          </a:xfrm>
          <a:prstGeom prst="rect">
            <a:avLst/>
          </a:prstGeom>
          <a:noFill/>
          <a:ln/>
        </p:spPr>
        <p:txBody>
          <a:bodyPr wrap="square" rtlCol="0" anchor="ctr"/>
          <a:lstStyle/>
          <a:p>
            <a:pPr indent="0" marL="0">
              <a:buNone/>
            </a:pPr>
            <a:r>
              <a:rPr lang="en-US" sz="1300" dirty="0">
                <a:solidFill>
                  <a:srgbClr val="16283F"/>
                </a:solidFill>
                <a:latin typeface="Calibri" pitchFamily="34" charset="0"/>
                <a:ea typeface="Calibri" pitchFamily="34" charset="-122"/>
                <a:cs typeface="Calibri" pitchFamily="34" charset="-120"/>
              </a:rPr>
              <a:t>Waterwall tube thinning</a:t>
            </a:r>
            <a:endParaRPr lang="en-US" sz="1300" dirty="0"/>
          </a:p>
        </p:txBody>
      </p:sp>
      <p:sp>
        <p:nvSpPr>
          <p:cNvPr id="10" name="Shape 7"/>
          <p:cNvSpPr/>
          <p:nvPr/>
        </p:nvSpPr>
        <p:spPr>
          <a:xfrm>
            <a:off x="8275320" y="3081528"/>
            <a:ext cx="73152" cy="384048"/>
          </a:xfrm>
          <a:prstGeom prst="rect">
            <a:avLst/>
          </a:prstGeom>
          <a:solidFill>
            <a:srgbClr val="0E1E33"/>
          </a:solidFill>
          <a:ln/>
        </p:spPr>
      </p:sp>
      <p:sp>
        <p:nvSpPr>
          <p:cNvPr id="11" name="Text 8"/>
          <p:cNvSpPr/>
          <p:nvPr/>
        </p:nvSpPr>
        <p:spPr>
          <a:xfrm>
            <a:off x="8485632" y="3035808"/>
            <a:ext cx="3200400" cy="548640"/>
          </a:xfrm>
          <a:prstGeom prst="rect">
            <a:avLst/>
          </a:prstGeom>
          <a:noFill/>
          <a:ln/>
        </p:spPr>
        <p:txBody>
          <a:bodyPr wrap="square" rtlCol="0" anchor="ctr"/>
          <a:lstStyle/>
          <a:p>
            <a:pPr indent="0" marL="0">
              <a:buNone/>
            </a:pPr>
            <a:r>
              <a:rPr lang="en-US" sz="1300" dirty="0">
                <a:solidFill>
                  <a:srgbClr val="16283F"/>
                </a:solidFill>
                <a:latin typeface="Calibri" pitchFamily="34" charset="0"/>
                <a:ea typeface="Calibri" pitchFamily="34" charset="-122"/>
                <a:cs typeface="Calibri" pitchFamily="34" charset="-120"/>
              </a:rPr>
              <a:t>flagged PARTIAL · criticality 5/5</a:t>
            </a:r>
            <a:endParaRPr lang="en-US" sz="1300" dirty="0"/>
          </a:p>
        </p:txBody>
      </p:sp>
      <p:sp>
        <p:nvSpPr>
          <p:cNvPr id="12" name="Shape 9"/>
          <p:cNvSpPr/>
          <p:nvPr/>
        </p:nvSpPr>
        <p:spPr>
          <a:xfrm>
            <a:off x="8275320" y="3739896"/>
            <a:ext cx="73152" cy="384048"/>
          </a:xfrm>
          <a:prstGeom prst="rect">
            <a:avLst/>
          </a:prstGeom>
          <a:solidFill>
            <a:srgbClr val="0E1E33"/>
          </a:solidFill>
          <a:ln/>
        </p:spPr>
      </p:sp>
      <p:sp>
        <p:nvSpPr>
          <p:cNvPr id="13" name="Text 10"/>
          <p:cNvSpPr/>
          <p:nvPr/>
        </p:nvSpPr>
        <p:spPr>
          <a:xfrm>
            <a:off x="8485632" y="3694176"/>
            <a:ext cx="3200400" cy="548640"/>
          </a:xfrm>
          <a:prstGeom prst="rect">
            <a:avLst/>
          </a:prstGeom>
          <a:noFill/>
          <a:ln/>
        </p:spPr>
        <p:txBody>
          <a:bodyPr wrap="square" rtlCol="0" anchor="ctr"/>
          <a:lstStyle/>
          <a:p>
            <a:pPr indent="0" marL="0">
              <a:buNone/>
            </a:pPr>
            <a:r>
              <a:rPr lang="en-US" sz="1300" dirty="0">
                <a:solidFill>
                  <a:srgbClr val="16283F"/>
                </a:solidFill>
                <a:latin typeface="Calibri" pitchFamily="34" charset="0"/>
                <a:ea typeface="Calibri" pitchFamily="34" charset="-122"/>
                <a:cs typeface="Calibri" pitchFamily="34" charset="-120"/>
              </a:rPr>
              <a:t>18 real CEA outage records</a:t>
            </a:r>
            <a:endParaRPr lang="en-US" sz="1300" dirty="0"/>
          </a:p>
        </p:txBody>
      </p:sp>
      <p:sp>
        <p:nvSpPr>
          <p:cNvPr id="14" name="Shape 11"/>
          <p:cNvSpPr/>
          <p:nvPr/>
        </p:nvSpPr>
        <p:spPr>
          <a:xfrm>
            <a:off x="8275320" y="4398264"/>
            <a:ext cx="73152" cy="384048"/>
          </a:xfrm>
          <a:prstGeom prst="rect">
            <a:avLst/>
          </a:prstGeom>
          <a:solidFill>
            <a:srgbClr val="E4843A"/>
          </a:solidFill>
          <a:ln/>
        </p:spPr>
      </p:sp>
      <p:sp>
        <p:nvSpPr>
          <p:cNvPr id="15" name="Text 12"/>
          <p:cNvSpPr/>
          <p:nvPr/>
        </p:nvSpPr>
        <p:spPr>
          <a:xfrm>
            <a:off x="8485632" y="4352544"/>
            <a:ext cx="3200400" cy="548640"/>
          </a:xfrm>
          <a:prstGeom prst="rect">
            <a:avLst/>
          </a:prstGeom>
          <a:noFill/>
          <a:ln/>
        </p:spPr>
        <p:txBody>
          <a:bodyPr wrap="square" rtlCol="0" anchor="ctr"/>
          <a:lstStyle/>
          <a:p>
            <a:pPr indent="0" marL="0">
              <a:buNone/>
            </a:pPr>
            <a:r>
              <a:rPr lang="en-US" sz="1300" b="1" dirty="0">
                <a:solidFill>
                  <a:srgbClr val="E4843A"/>
                </a:solidFill>
                <a:latin typeface="Calibri" pitchFamily="34" charset="0"/>
                <a:ea typeface="Calibri" pitchFamily="34" charset="-122"/>
                <a:cs typeface="Calibri" pitchFamily="34" charset="-120"/>
              </a:rPr>
              <a:t>= ₹211.85 Cr already lost</a:t>
            </a:r>
            <a:endParaRPr lang="en-US" sz="1300" dirty="0"/>
          </a:p>
        </p:txBody>
      </p:sp>
      <p:sp>
        <p:nvSpPr>
          <p:cNvPr id="16" name="Shape 13"/>
          <p:cNvSpPr/>
          <p:nvPr/>
        </p:nvSpPr>
        <p:spPr>
          <a:xfrm>
            <a:off x="8275320" y="5056632"/>
            <a:ext cx="73152" cy="384048"/>
          </a:xfrm>
          <a:prstGeom prst="rect">
            <a:avLst/>
          </a:prstGeom>
          <a:solidFill>
            <a:srgbClr val="0E1E33"/>
          </a:solidFill>
          <a:ln/>
        </p:spPr>
      </p:sp>
      <p:sp>
        <p:nvSpPr>
          <p:cNvPr id="17" name="Text 14"/>
          <p:cNvSpPr/>
          <p:nvPr/>
        </p:nvSpPr>
        <p:spPr>
          <a:xfrm>
            <a:off x="8485632" y="5010912"/>
            <a:ext cx="3200400" cy="548640"/>
          </a:xfrm>
          <a:prstGeom prst="rect">
            <a:avLst/>
          </a:prstGeom>
          <a:noFill/>
          <a:ln/>
        </p:spPr>
        <p:txBody>
          <a:bodyPr wrap="square" rtlCol="0" anchor="ctr"/>
          <a:lstStyle/>
          <a:p>
            <a:pPr indent="0" marL="0">
              <a:buNone/>
            </a:pPr>
            <a:r>
              <a:rPr lang="en-US" sz="1300" dirty="0">
                <a:solidFill>
                  <a:srgbClr val="16283F"/>
                </a:solidFill>
                <a:latin typeface="Calibri" pitchFamily="34" charset="0"/>
                <a:ea typeface="Calibri" pitchFamily="34" charset="-122"/>
                <a:cs typeface="Calibri" pitchFamily="34" charset="-120"/>
              </a:rPr>
              <a:t>mandated by CEA STS 500MW + IBR</a:t>
            </a:r>
            <a:endParaRPr lang="en-US" sz="1300" dirty="0"/>
          </a:p>
        </p:txBody>
      </p:sp>
      <p:sp>
        <p:nvSpPr>
          <p:cNvPr id="18" name="Text 15"/>
          <p:cNvSpPr/>
          <p:nvPr/>
        </p:nvSpPr>
        <p:spPr>
          <a:xfrm>
            <a:off x="9966960" y="6455664"/>
            <a:ext cx="1828800" cy="274320"/>
          </a:xfrm>
          <a:prstGeom prst="rect">
            <a:avLst/>
          </a:prstGeom>
          <a:noFill/>
          <a:ln/>
        </p:spPr>
        <p:txBody>
          <a:bodyPr wrap="square"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07 · ThermIQ</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128016" cy="384048"/>
          </a:xfrm>
          <a:prstGeom prst="rect">
            <a:avLst/>
          </a:prstGeom>
          <a:solidFill>
            <a:srgbClr val="E4843A"/>
          </a:solidFill>
          <a:ln/>
        </p:spPr>
      </p:sp>
      <p:sp>
        <p:nvSpPr>
          <p:cNvPr id="3" name="Text 1"/>
          <p:cNvSpPr/>
          <p:nvPr/>
        </p:nvSpPr>
        <p:spPr>
          <a:xfrm>
            <a:off x="804672" y="493776"/>
            <a:ext cx="10607040" cy="256032"/>
          </a:xfrm>
          <a:prstGeom prst="rect">
            <a:avLst/>
          </a:prstGeom>
          <a:noFill/>
          <a:ln/>
        </p:spPr>
        <p:txBody>
          <a:bodyPr wrap="square" rtlCol="0" anchor="ctr"/>
          <a:lstStyle/>
          <a:p>
            <a:pPr indent="0" marL="0">
              <a:buNone/>
            </a:pPr>
            <a:r>
              <a:rPr lang="en-US" sz="1200" b="1" spc="200" kern="0" dirty="0">
                <a:solidFill>
                  <a:srgbClr val="E4843A"/>
                </a:solidFill>
                <a:latin typeface="Calibri" pitchFamily="34" charset="0"/>
                <a:ea typeface="Calibri" pitchFamily="34" charset="-122"/>
                <a:cs typeface="Calibri" pitchFamily="34" charset="-120"/>
              </a:rPr>
              <a:t>ARCHITECTURE</a:t>
            </a:r>
            <a:endParaRPr lang="en-US" sz="1200" dirty="0"/>
          </a:p>
        </p:txBody>
      </p:sp>
      <p:sp>
        <p:nvSpPr>
          <p:cNvPr id="4" name="Text 2"/>
          <p:cNvSpPr/>
          <p:nvPr/>
        </p:nvSpPr>
        <p:spPr>
          <a:xfrm>
            <a:off x="786384" y="731520"/>
            <a:ext cx="10789920" cy="658368"/>
          </a:xfrm>
          <a:prstGeom prst="rect">
            <a:avLst/>
          </a:prstGeom>
          <a:noFill/>
          <a:ln/>
        </p:spPr>
        <p:txBody>
          <a:bodyPr wrap="square" rtlCol="0" anchor="ctr"/>
          <a:lstStyle/>
          <a:p>
            <a:pPr indent="0" marL="0">
              <a:buNone/>
            </a:pPr>
            <a:r>
              <a:rPr lang="en-US" sz="3000" b="1" dirty="0">
                <a:solidFill>
                  <a:srgbClr val="16283F"/>
                </a:solidFill>
                <a:latin typeface="Cambria" pitchFamily="34" charset="0"/>
                <a:ea typeface="Cambria" pitchFamily="34" charset="-122"/>
                <a:cs typeface="Cambria" pitchFamily="34" charset="-120"/>
              </a:rPr>
              <a:t>How it fits together</a:t>
            </a:r>
            <a:endParaRPr lang="en-US" sz="3000" dirty="0"/>
          </a:p>
        </p:txBody>
      </p:sp>
      <p:sp>
        <p:nvSpPr>
          <p:cNvPr id="5" name="Shape 3"/>
          <p:cNvSpPr/>
          <p:nvPr/>
        </p:nvSpPr>
        <p:spPr>
          <a:xfrm>
            <a:off x="3209544" y="1517904"/>
            <a:ext cx="8394192" cy="5200102"/>
          </a:xfrm>
          <a:prstGeom prst="rect">
            <a:avLst/>
          </a:prstGeom>
          <a:solidFill>
            <a:srgbClr val="FFFFFF"/>
          </a:solidFill>
          <a:ln w="12700">
            <a:solidFill>
              <a:srgbClr val="D5DEE8"/>
            </a:solidFill>
            <a:prstDash val="solid"/>
          </a:ln>
          <a:effectLst>
            <a:outerShdw sx="100000" sy="100000" kx="0" ky="0" algn="bl" rotWithShape="0" blurRad="114300" dist="38100" dir="5400000">
              <a:srgbClr val="9AA9BC">
                <a:alpha val="45000"/>
              </a:srgbClr>
            </a:outerShdw>
          </a:effectLst>
        </p:spPr>
      </p:sp>
      <p:pic>
        <p:nvPicPr>
          <p:cNvPr id="6" name="Image 0" descr="/sessions/fervent-compassionate-franklin/mnt/ET AI Hackathon/deck_assets/06_architecture_diagram.png">    </p:cNvPr>
          <p:cNvPicPr>
            <a:picLocks noChangeAspect="1"/>
          </p:cNvPicPr>
          <p:nvPr/>
        </p:nvPicPr>
        <p:blipFill>
          <a:blip r:embed="rId1"/>
          <a:stretch>
            <a:fillRect/>
          </a:stretch>
        </p:blipFill>
        <p:spPr>
          <a:xfrm>
            <a:off x="3246120" y="1554480"/>
            <a:ext cx="8321040" cy="5126950"/>
          </a:xfrm>
          <a:prstGeom prst="rect">
            <a:avLst/>
          </a:prstGeom>
        </p:spPr>
      </p:pic>
      <p:sp>
        <p:nvSpPr>
          <p:cNvPr id="7" name="Text 4"/>
          <p:cNvSpPr/>
          <p:nvPr/>
        </p:nvSpPr>
        <p:spPr>
          <a:xfrm>
            <a:off x="566928" y="1783080"/>
            <a:ext cx="2468880" cy="274320"/>
          </a:xfrm>
          <a:prstGeom prst="rect">
            <a:avLst/>
          </a:prstGeom>
          <a:noFill/>
          <a:ln/>
        </p:spPr>
        <p:txBody>
          <a:bodyPr wrap="square" rtlCol="0" anchor="ctr"/>
          <a:lstStyle/>
          <a:p>
            <a:pPr indent="0" marL="0">
              <a:buNone/>
            </a:pPr>
            <a:r>
              <a:rPr lang="en-US" sz="1350" b="1" dirty="0">
                <a:solidFill>
                  <a:srgbClr val="E4843A"/>
                </a:solidFill>
                <a:latin typeface="Calibri" pitchFamily="34" charset="0"/>
                <a:ea typeface="Calibri" pitchFamily="34" charset="-122"/>
                <a:cs typeface="Calibri" pitchFamily="34" charset="-120"/>
              </a:rPr>
              <a:t>Frontend</a:t>
            </a:r>
            <a:endParaRPr lang="en-US" sz="1350" dirty="0"/>
          </a:p>
        </p:txBody>
      </p:sp>
      <p:sp>
        <p:nvSpPr>
          <p:cNvPr id="8" name="Text 5"/>
          <p:cNvSpPr/>
          <p:nvPr/>
        </p:nvSpPr>
        <p:spPr>
          <a:xfrm>
            <a:off x="566928" y="2048256"/>
            <a:ext cx="2560320" cy="384048"/>
          </a:xfrm>
          <a:prstGeom prst="rect">
            <a:avLst/>
          </a:prstGeom>
          <a:noFill/>
          <a:ln/>
        </p:spPr>
        <p:txBody>
          <a:bodyPr wrap="square" rtlCol="0" anchor="ctr"/>
          <a:lstStyle/>
          <a:p>
            <a:pPr indent="0" marL="0">
              <a:buNone/>
            </a:pPr>
            <a:r>
              <a:rPr lang="en-US" sz="1150" dirty="0">
                <a:solidFill>
                  <a:srgbClr val="5C6B7E"/>
                </a:solidFill>
                <a:latin typeface="Calibri" pitchFamily="34" charset="0"/>
                <a:ea typeface="Calibri" pitchFamily="34" charset="-122"/>
                <a:cs typeface="Calibri" pitchFamily="34" charset="-120"/>
              </a:rPr>
              <a:t>SPA · GitHub Pages + Vercel</a:t>
            </a:r>
            <a:endParaRPr lang="en-US" sz="1150" dirty="0"/>
          </a:p>
        </p:txBody>
      </p:sp>
      <p:sp>
        <p:nvSpPr>
          <p:cNvPr id="9" name="Text 6"/>
          <p:cNvSpPr/>
          <p:nvPr/>
        </p:nvSpPr>
        <p:spPr>
          <a:xfrm>
            <a:off x="566928" y="2532888"/>
            <a:ext cx="2468880" cy="274320"/>
          </a:xfrm>
          <a:prstGeom prst="rect">
            <a:avLst/>
          </a:prstGeom>
          <a:noFill/>
          <a:ln/>
        </p:spPr>
        <p:txBody>
          <a:bodyPr wrap="square" rtlCol="0" anchor="ctr"/>
          <a:lstStyle/>
          <a:p>
            <a:pPr indent="0" marL="0">
              <a:buNone/>
            </a:pPr>
            <a:r>
              <a:rPr lang="en-US" sz="1350" b="1" dirty="0">
                <a:solidFill>
                  <a:srgbClr val="E4843A"/>
                </a:solidFill>
                <a:latin typeface="Calibri" pitchFamily="34" charset="0"/>
                <a:ea typeface="Calibri" pitchFamily="34" charset="-122"/>
                <a:cs typeface="Calibri" pitchFamily="34" charset="-120"/>
              </a:rPr>
              <a:t>Backend</a:t>
            </a:r>
            <a:endParaRPr lang="en-US" sz="1350" dirty="0"/>
          </a:p>
        </p:txBody>
      </p:sp>
      <p:sp>
        <p:nvSpPr>
          <p:cNvPr id="10" name="Text 7"/>
          <p:cNvSpPr/>
          <p:nvPr/>
        </p:nvSpPr>
        <p:spPr>
          <a:xfrm>
            <a:off x="566928" y="2798064"/>
            <a:ext cx="2560320" cy="384048"/>
          </a:xfrm>
          <a:prstGeom prst="rect">
            <a:avLst/>
          </a:prstGeom>
          <a:noFill/>
          <a:ln/>
        </p:spPr>
        <p:txBody>
          <a:bodyPr wrap="square" rtlCol="0" anchor="ctr"/>
          <a:lstStyle/>
          <a:p>
            <a:pPr indent="0" marL="0">
              <a:buNone/>
            </a:pPr>
            <a:r>
              <a:rPr lang="en-US" sz="1150" dirty="0">
                <a:solidFill>
                  <a:srgbClr val="5C6B7E"/>
                </a:solidFill>
                <a:latin typeface="Calibri" pitchFamily="34" charset="0"/>
                <a:ea typeface="Calibri" pitchFamily="34" charset="-122"/>
                <a:cs typeface="Calibri" pitchFamily="34" charset="-120"/>
              </a:rPr>
              <a:t>Vercel serverless (api/*.js)</a:t>
            </a:r>
            <a:endParaRPr lang="en-US" sz="1150" dirty="0"/>
          </a:p>
        </p:txBody>
      </p:sp>
      <p:sp>
        <p:nvSpPr>
          <p:cNvPr id="11" name="Text 8"/>
          <p:cNvSpPr/>
          <p:nvPr/>
        </p:nvSpPr>
        <p:spPr>
          <a:xfrm>
            <a:off x="566928" y="3282696"/>
            <a:ext cx="2468880" cy="274320"/>
          </a:xfrm>
          <a:prstGeom prst="rect">
            <a:avLst/>
          </a:prstGeom>
          <a:noFill/>
          <a:ln/>
        </p:spPr>
        <p:txBody>
          <a:bodyPr wrap="square" rtlCol="0" anchor="ctr"/>
          <a:lstStyle/>
          <a:p>
            <a:pPr indent="0" marL="0">
              <a:buNone/>
            </a:pPr>
            <a:r>
              <a:rPr lang="en-US" sz="1350" b="1" dirty="0">
                <a:solidFill>
                  <a:srgbClr val="E4843A"/>
                </a:solidFill>
                <a:latin typeface="Calibri" pitchFamily="34" charset="0"/>
                <a:ea typeface="Calibri" pitchFamily="34" charset="-122"/>
                <a:cs typeface="Calibri" pitchFamily="34" charset="-120"/>
              </a:rPr>
              <a:t>Retrieval</a:t>
            </a:r>
            <a:endParaRPr lang="en-US" sz="1350" dirty="0"/>
          </a:p>
        </p:txBody>
      </p:sp>
      <p:sp>
        <p:nvSpPr>
          <p:cNvPr id="12" name="Text 9"/>
          <p:cNvSpPr/>
          <p:nvPr/>
        </p:nvSpPr>
        <p:spPr>
          <a:xfrm>
            <a:off x="566928" y="3547872"/>
            <a:ext cx="2560320" cy="384048"/>
          </a:xfrm>
          <a:prstGeom prst="rect">
            <a:avLst/>
          </a:prstGeom>
          <a:noFill/>
          <a:ln/>
        </p:spPr>
        <p:txBody>
          <a:bodyPr wrap="square" rtlCol="0" anchor="ctr"/>
          <a:lstStyle/>
          <a:p>
            <a:pPr indent="0" marL="0">
              <a:buNone/>
            </a:pPr>
            <a:r>
              <a:rPr lang="en-US" sz="1150" dirty="0">
                <a:solidFill>
                  <a:srgbClr val="5C6B7E"/>
                </a:solidFill>
                <a:latin typeface="Calibri" pitchFamily="34" charset="0"/>
                <a:ea typeface="Calibri" pitchFamily="34" charset="-122"/>
                <a:cs typeface="Calibri" pitchFamily="34" charset="-120"/>
              </a:rPr>
              <a:t>Jina v3 → Qdrant vectors</a:t>
            </a:r>
            <a:endParaRPr lang="en-US" sz="1150" dirty="0"/>
          </a:p>
        </p:txBody>
      </p:sp>
      <p:sp>
        <p:nvSpPr>
          <p:cNvPr id="13" name="Text 10"/>
          <p:cNvSpPr/>
          <p:nvPr/>
        </p:nvSpPr>
        <p:spPr>
          <a:xfrm>
            <a:off x="566928" y="4032504"/>
            <a:ext cx="2468880" cy="274320"/>
          </a:xfrm>
          <a:prstGeom prst="rect">
            <a:avLst/>
          </a:prstGeom>
          <a:noFill/>
          <a:ln/>
        </p:spPr>
        <p:txBody>
          <a:bodyPr wrap="square" rtlCol="0" anchor="ctr"/>
          <a:lstStyle/>
          <a:p>
            <a:pPr indent="0" marL="0">
              <a:buNone/>
            </a:pPr>
            <a:r>
              <a:rPr lang="en-US" sz="1350" b="1" dirty="0">
                <a:solidFill>
                  <a:srgbClr val="E4843A"/>
                </a:solidFill>
                <a:latin typeface="Calibri" pitchFamily="34" charset="0"/>
                <a:ea typeface="Calibri" pitchFamily="34" charset="-122"/>
                <a:cs typeface="Calibri" pitchFamily="34" charset="-120"/>
              </a:rPr>
              <a:t>Generation</a:t>
            </a:r>
            <a:endParaRPr lang="en-US" sz="1350" dirty="0"/>
          </a:p>
        </p:txBody>
      </p:sp>
      <p:sp>
        <p:nvSpPr>
          <p:cNvPr id="14" name="Text 11"/>
          <p:cNvSpPr/>
          <p:nvPr/>
        </p:nvSpPr>
        <p:spPr>
          <a:xfrm>
            <a:off x="566928" y="4297680"/>
            <a:ext cx="2560320" cy="384048"/>
          </a:xfrm>
          <a:prstGeom prst="rect">
            <a:avLst/>
          </a:prstGeom>
          <a:noFill/>
          <a:ln/>
        </p:spPr>
        <p:txBody>
          <a:bodyPr wrap="square" rtlCol="0" anchor="ctr"/>
          <a:lstStyle/>
          <a:p>
            <a:pPr indent="0" marL="0">
              <a:buNone/>
            </a:pPr>
            <a:r>
              <a:rPr lang="en-US" sz="1150" dirty="0">
                <a:solidFill>
                  <a:srgbClr val="5C6B7E"/>
                </a:solidFill>
                <a:latin typeface="Calibri" pitchFamily="34" charset="0"/>
                <a:ea typeface="Calibri" pitchFamily="34" charset="-122"/>
                <a:cs typeface="Calibri" pitchFamily="34" charset="-120"/>
              </a:rPr>
              <a:t>Gemini 2.5 Flash + fallbacks</a:t>
            </a:r>
            <a:endParaRPr lang="en-US" sz="1150" dirty="0"/>
          </a:p>
        </p:txBody>
      </p:sp>
      <p:sp>
        <p:nvSpPr>
          <p:cNvPr id="15" name="Text 12"/>
          <p:cNvSpPr/>
          <p:nvPr/>
        </p:nvSpPr>
        <p:spPr>
          <a:xfrm>
            <a:off x="566928" y="4782312"/>
            <a:ext cx="2468880" cy="274320"/>
          </a:xfrm>
          <a:prstGeom prst="rect">
            <a:avLst/>
          </a:prstGeom>
          <a:noFill/>
          <a:ln/>
        </p:spPr>
        <p:txBody>
          <a:bodyPr wrap="square" rtlCol="0" anchor="ctr"/>
          <a:lstStyle/>
          <a:p>
            <a:pPr indent="0" marL="0">
              <a:buNone/>
            </a:pPr>
            <a:r>
              <a:rPr lang="en-US" sz="1350" b="1" dirty="0">
                <a:solidFill>
                  <a:srgbClr val="E4843A"/>
                </a:solidFill>
                <a:latin typeface="Calibri" pitchFamily="34" charset="0"/>
                <a:ea typeface="Calibri" pitchFamily="34" charset="-122"/>
                <a:cs typeface="Calibri" pitchFamily="34" charset="-120"/>
              </a:rPr>
              <a:t>Structured</a:t>
            </a:r>
            <a:endParaRPr lang="en-US" sz="1350" dirty="0"/>
          </a:p>
        </p:txBody>
      </p:sp>
      <p:sp>
        <p:nvSpPr>
          <p:cNvPr id="16" name="Text 13"/>
          <p:cNvSpPr/>
          <p:nvPr/>
        </p:nvSpPr>
        <p:spPr>
          <a:xfrm>
            <a:off x="566928" y="5047488"/>
            <a:ext cx="2560320" cy="384048"/>
          </a:xfrm>
          <a:prstGeom prst="rect">
            <a:avLst/>
          </a:prstGeom>
          <a:noFill/>
          <a:ln/>
        </p:spPr>
        <p:txBody>
          <a:bodyPr wrap="square" rtlCol="0" anchor="ctr"/>
          <a:lstStyle/>
          <a:p>
            <a:pPr indent="0" marL="0">
              <a:buNone/>
            </a:pPr>
            <a:r>
              <a:rPr lang="en-US" sz="1150" dirty="0">
                <a:solidFill>
                  <a:srgbClr val="5C6B7E"/>
                </a:solidFill>
                <a:latin typeface="Calibri" pitchFamily="34" charset="0"/>
                <a:ea typeface="Calibri" pitchFamily="34" charset="-122"/>
                <a:cs typeface="Calibri" pitchFamily="34" charset="-120"/>
              </a:rPr>
              <a:t>Firestore · Neo4j graph</a:t>
            </a:r>
            <a:endParaRPr lang="en-US" sz="1150" dirty="0"/>
          </a:p>
        </p:txBody>
      </p:sp>
      <p:sp>
        <p:nvSpPr>
          <p:cNvPr id="17" name="Text 14"/>
          <p:cNvSpPr/>
          <p:nvPr/>
        </p:nvSpPr>
        <p:spPr>
          <a:xfrm>
            <a:off x="566928" y="5532120"/>
            <a:ext cx="2468880" cy="274320"/>
          </a:xfrm>
          <a:prstGeom prst="rect">
            <a:avLst/>
          </a:prstGeom>
          <a:noFill/>
          <a:ln/>
        </p:spPr>
        <p:txBody>
          <a:bodyPr wrap="square" rtlCol="0" anchor="ctr"/>
          <a:lstStyle/>
          <a:p>
            <a:pPr indent="0" marL="0">
              <a:buNone/>
            </a:pPr>
            <a:r>
              <a:rPr lang="en-US" sz="1350" b="1" dirty="0">
                <a:solidFill>
                  <a:srgbClr val="E4843A"/>
                </a:solidFill>
                <a:latin typeface="Calibri" pitchFamily="34" charset="0"/>
                <a:ea typeface="Calibri" pitchFamily="34" charset="-122"/>
                <a:cs typeface="Calibri" pitchFamily="34" charset="-120"/>
              </a:rPr>
              <a:t>Automation</a:t>
            </a:r>
            <a:endParaRPr lang="en-US" sz="1350" dirty="0"/>
          </a:p>
        </p:txBody>
      </p:sp>
      <p:sp>
        <p:nvSpPr>
          <p:cNvPr id="18" name="Text 15"/>
          <p:cNvSpPr/>
          <p:nvPr/>
        </p:nvSpPr>
        <p:spPr>
          <a:xfrm>
            <a:off x="566928" y="5797296"/>
            <a:ext cx="2560320" cy="384048"/>
          </a:xfrm>
          <a:prstGeom prst="rect">
            <a:avLst/>
          </a:prstGeom>
          <a:noFill/>
          <a:ln/>
        </p:spPr>
        <p:txBody>
          <a:bodyPr wrap="square" rtlCol="0" anchor="ctr"/>
          <a:lstStyle/>
          <a:p>
            <a:pPr indent="0" marL="0">
              <a:buNone/>
            </a:pPr>
            <a:r>
              <a:rPr lang="en-US" sz="1150" dirty="0">
                <a:solidFill>
                  <a:srgbClr val="5C6B7E"/>
                </a:solidFill>
                <a:latin typeface="Calibri" pitchFamily="34" charset="0"/>
                <a:ea typeface="Calibri" pitchFamily="34" charset="-122"/>
                <a:cs typeface="Calibri" pitchFamily="34" charset="-120"/>
              </a:rPr>
              <a:t>GitHub Actions pipelines</a:t>
            </a:r>
            <a:endParaRPr lang="en-US" sz="1150" dirty="0"/>
          </a:p>
        </p:txBody>
      </p:sp>
      <p:sp>
        <p:nvSpPr>
          <p:cNvPr id="19" name="Text 16"/>
          <p:cNvSpPr/>
          <p:nvPr/>
        </p:nvSpPr>
        <p:spPr>
          <a:xfrm>
            <a:off x="9966960" y="6455664"/>
            <a:ext cx="1828800" cy="274320"/>
          </a:xfrm>
          <a:prstGeom prst="rect">
            <a:avLst/>
          </a:prstGeom>
          <a:noFill/>
          <a:ln/>
        </p:spPr>
        <p:txBody>
          <a:bodyPr wrap="square"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08 · ThermIQ</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128016" cy="384048"/>
          </a:xfrm>
          <a:prstGeom prst="rect">
            <a:avLst/>
          </a:prstGeom>
          <a:solidFill>
            <a:srgbClr val="E4843A"/>
          </a:solidFill>
          <a:ln/>
        </p:spPr>
      </p:sp>
      <p:sp>
        <p:nvSpPr>
          <p:cNvPr id="3" name="Text 1"/>
          <p:cNvSpPr/>
          <p:nvPr/>
        </p:nvSpPr>
        <p:spPr>
          <a:xfrm>
            <a:off x="804672" y="493776"/>
            <a:ext cx="10607040" cy="256032"/>
          </a:xfrm>
          <a:prstGeom prst="rect">
            <a:avLst/>
          </a:prstGeom>
          <a:noFill/>
          <a:ln/>
        </p:spPr>
        <p:txBody>
          <a:bodyPr wrap="square" rtlCol="0" anchor="ctr"/>
          <a:lstStyle/>
          <a:p>
            <a:pPr indent="0" marL="0">
              <a:buNone/>
            </a:pPr>
            <a:r>
              <a:rPr lang="en-US" sz="1200" b="1" spc="200" kern="0" dirty="0">
                <a:solidFill>
                  <a:srgbClr val="E4843A"/>
                </a:solidFill>
                <a:latin typeface="Calibri" pitchFamily="34" charset="0"/>
                <a:ea typeface="Calibri" pitchFamily="34" charset="-122"/>
                <a:cs typeface="Calibri" pitchFamily="34" charset="-120"/>
              </a:rPr>
              <a:t>WHY IT STANDS OUT</a:t>
            </a:r>
            <a:endParaRPr lang="en-US" sz="1200" dirty="0"/>
          </a:p>
        </p:txBody>
      </p:sp>
      <p:sp>
        <p:nvSpPr>
          <p:cNvPr id="4" name="Text 2"/>
          <p:cNvSpPr/>
          <p:nvPr/>
        </p:nvSpPr>
        <p:spPr>
          <a:xfrm>
            <a:off x="786384" y="731520"/>
            <a:ext cx="10789920" cy="658368"/>
          </a:xfrm>
          <a:prstGeom prst="rect">
            <a:avLst/>
          </a:prstGeom>
          <a:noFill/>
          <a:ln/>
        </p:spPr>
        <p:txBody>
          <a:bodyPr wrap="square" rtlCol="0" anchor="ctr"/>
          <a:lstStyle/>
          <a:p>
            <a:pPr indent="0" marL="0">
              <a:buNone/>
            </a:pPr>
            <a:r>
              <a:rPr lang="en-US" sz="3000" b="1" dirty="0">
                <a:solidFill>
                  <a:srgbClr val="16283F"/>
                </a:solidFill>
                <a:latin typeface="Cambria" pitchFamily="34" charset="0"/>
                <a:ea typeface="Cambria" pitchFamily="34" charset="-122"/>
                <a:cs typeface="Cambria" pitchFamily="34" charset="-120"/>
              </a:rPr>
              <a:t>Mapped to how it’s judged</a:t>
            </a:r>
            <a:endParaRPr lang="en-US" sz="3000" dirty="0"/>
          </a:p>
        </p:txBody>
      </p:sp>
      <p:sp>
        <p:nvSpPr>
          <p:cNvPr id="5" name="Shape 3"/>
          <p:cNvSpPr/>
          <p:nvPr/>
        </p:nvSpPr>
        <p:spPr>
          <a:xfrm>
            <a:off x="566928" y="1737360"/>
            <a:ext cx="1051560" cy="713232"/>
          </a:xfrm>
          <a:prstGeom prst="roundRect">
            <a:avLst>
              <a:gd name="adj" fmla="val 7692"/>
            </a:avLst>
          </a:prstGeom>
          <a:solidFill>
            <a:srgbClr val="0E1E33"/>
          </a:solidFill>
          <a:ln/>
        </p:spPr>
      </p:sp>
      <p:sp>
        <p:nvSpPr>
          <p:cNvPr id="6" name="Text 4"/>
          <p:cNvSpPr/>
          <p:nvPr/>
        </p:nvSpPr>
        <p:spPr>
          <a:xfrm>
            <a:off x="566928" y="1737360"/>
            <a:ext cx="1051560" cy="713232"/>
          </a:xfrm>
          <a:prstGeom prst="rect">
            <a:avLst/>
          </a:prstGeom>
          <a:noFill/>
          <a:ln/>
        </p:spPr>
        <p:txBody>
          <a:bodyPr wrap="square" rtlCol="0" anchor="ctr"/>
          <a:lstStyle/>
          <a:p>
            <a:pPr algn="ctr" indent="0" marL="0">
              <a:buNone/>
            </a:pPr>
            <a:r>
              <a:rPr lang="en-US" sz="2000" b="1" dirty="0">
                <a:solidFill>
                  <a:srgbClr val="F2A65A"/>
                </a:solidFill>
                <a:latin typeface="Cambria" pitchFamily="34" charset="0"/>
                <a:ea typeface="Cambria" pitchFamily="34" charset="-122"/>
                <a:cs typeface="Cambria" pitchFamily="34" charset="-120"/>
              </a:rPr>
              <a:t>25%</a:t>
            </a:r>
            <a:endParaRPr lang="en-US" sz="2000" dirty="0"/>
          </a:p>
        </p:txBody>
      </p:sp>
      <p:sp>
        <p:nvSpPr>
          <p:cNvPr id="7" name="Text 5"/>
          <p:cNvSpPr/>
          <p:nvPr/>
        </p:nvSpPr>
        <p:spPr>
          <a:xfrm>
            <a:off x="1783080" y="1764792"/>
            <a:ext cx="2926080" cy="658368"/>
          </a:xfrm>
          <a:prstGeom prst="rect">
            <a:avLst/>
          </a:prstGeom>
          <a:noFill/>
          <a:ln/>
        </p:spPr>
        <p:txBody>
          <a:bodyPr wrap="square" rtlCol="0" anchor="ctr"/>
          <a:lstStyle/>
          <a:p>
            <a:pPr indent="0" marL="0">
              <a:buNone/>
            </a:pPr>
            <a:r>
              <a:rPr lang="en-US" sz="1550" b="1" dirty="0">
                <a:solidFill>
                  <a:srgbClr val="16283F"/>
                </a:solidFill>
                <a:latin typeface="Calibri" pitchFamily="34" charset="0"/>
                <a:ea typeface="Calibri" pitchFamily="34" charset="-122"/>
                <a:cs typeface="Calibri" pitchFamily="34" charset="-120"/>
              </a:rPr>
              <a:t>Innovation</a:t>
            </a:r>
            <a:endParaRPr lang="en-US" sz="1550" dirty="0"/>
          </a:p>
        </p:txBody>
      </p:sp>
      <p:sp>
        <p:nvSpPr>
          <p:cNvPr id="8" name="Text 6"/>
          <p:cNvSpPr/>
          <p:nvPr/>
        </p:nvSpPr>
        <p:spPr>
          <a:xfrm>
            <a:off x="4846320" y="1764792"/>
            <a:ext cx="6766560" cy="676656"/>
          </a:xfrm>
          <a:prstGeom prst="rect">
            <a:avLst/>
          </a:prstGeom>
          <a:noFill/>
          <a:ln/>
        </p:spPr>
        <p:txBody>
          <a:bodyPr wrap="square" rtlCol="0" anchor="ctr"/>
          <a:lstStyle/>
          <a:p>
            <a:pPr indent="0" marL="0">
              <a:lnSpc>
                <a:spcPct val="100000"/>
              </a:lnSpc>
              <a:buNone/>
            </a:pPr>
            <a:r>
              <a:rPr lang="en-US" sz="1300" dirty="0">
                <a:solidFill>
                  <a:srgbClr val="5C6B7E"/>
                </a:solidFill>
                <a:latin typeface="Calibri" pitchFamily="34" charset="0"/>
                <a:ea typeface="Calibri" pitchFamily="34" charset="-122"/>
                <a:cs typeface="Calibri" pitchFamily="34" charset="-120"/>
              </a:rPr>
              <a:t>Prices the ABSENCE of documentation in ₹ — a capital-risk framing, not another RAG chatbot.</a:t>
            </a:r>
            <a:endParaRPr lang="en-US" sz="1300" dirty="0"/>
          </a:p>
        </p:txBody>
      </p:sp>
      <p:sp>
        <p:nvSpPr>
          <p:cNvPr id="9" name="Shape 7"/>
          <p:cNvSpPr/>
          <p:nvPr/>
        </p:nvSpPr>
        <p:spPr>
          <a:xfrm>
            <a:off x="566928" y="2651760"/>
            <a:ext cx="1051560" cy="713232"/>
          </a:xfrm>
          <a:prstGeom prst="roundRect">
            <a:avLst>
              <a:gd name="adj" fmla="val 7692"/>
            </a:avLst>
          </a:prstGeom>
          <a:solidFill>
            <a:srgbClr val="0E1E33"/>
          </a:solidFill>
          <a:ln/>
        </p:spPr>
      </p:sp>
      <p:sp>
        <p:nvSpPr>
          <p:cNvPr id="10" name="Text 8"/>
          <p:cNvSpPr/>
          <p:nvPr/>
        </p:nvSpPr>
        <p:spPr>
          <a:xfrm>
            <a:off x="566928" y="2651760"/>
            <a:ext cx="1051560" cy="713232"/>
          </a:xfrm>
          <a:prstGeom prst="rect">
            <a:avLst/>
          </a:prstGeom>
          <a:noFill/>
          <a:ln/>
        </p:spPr>
        <p:txBody>
          <a:bodyPr wrap="square" rtlCol="0" anchor="ctr"/>
          <a:lstStyle/>
          <a:p>
            <a:pPr algn="ctr" indent="0" marL="0">
              <a:buNone/>
            </a:pPr>
            <a:r>
              <a:rPr lang="en-US" sz="2000" b="1" dirty="0">
                <a:solidFill>
                  <a:srgbClr val="F2A65A"/>
                </a:solidFill>
                <a:latin typeface="Cambria" pitchFamily="34" charset="0"/>
                <a:ea typeface="Cambria" pitchFamily="34" charset="-122"/>
                <a:cs typeface="Cambria" pitchFamily="34" charset="-120"/>
              </a:rPr>
              <a:t>25%</a:t>
            </a:r>
            <a:endParaRPr lang="en-US" sz="2000" dirty="0"/>
          </a:p>
        </p:txBody>
      </p:sp>
      <p:sp>
        <p:nvSpPr>
          <p:cNvPr id="11" name="Text 9"/>
          <p:cNvSpPr/>
          <p:nvPr/>
        </p:nvSpPr>
        <p:spPr>
          <a:xfrm>
            <a:off x="1783080" y="2679192"/>
            <a:ext cx="2926080" cy="658368"/>
          </a:xfrm>
          <a:prstGeom prst="rect">
            <a:avLst/>
          </a:prstGeom>
          <a:noFill/>
          <a:ln/>
        </p:spPr>
        <p:txBody>
          <a:bodyPr wrap="square" rtlCol="0" anchor="ctr"/>
          <a:lstStyle/>
          <a:p>
            <a:pPr indent="0" marL="0">
              <a:buNone/>
            </a:pPr>
            <a:r>
              <a:rPr lang="en-US" sz="1550" b="1" dirty="0">
                <a:solidFill>
                  <a:srgbClr val="16283F"/>
                </a:solidFill>
                <a:latin typeface="Calibri" pitchFamily="34" charset="0"/>
                <a:ea typeface="Calibri" pitchFamily="34" charset="-122"/>
                <a:cs typeface="Calibri" pitchFamily="34" charset="-120"/>
              </a:rPr>
              <a:t>Business Impact</a:t>
            </a:r>
            <a:endParaRPr lang="en-US" sz="1550" dirty="0"/>
          </a:p>
        </p:txBody>
      </p:sp>
      <p:sp>
        <p:nvSpPr>
          <p:cNvPr id="12" name="Text 10"/>
          <p:cNvSpPr/>
          <p:nvPr/>
        </p:nvSpPr>
        <p:spPr>
          <a:xfrm>
            <a:off x="4846320" y="2679192"/>
            <a:ext cx="6766560" cy="676656"/>
          </a:xfrm>
          <a:prstGeom prst="rect">
            <a:avLst/>
          </a:prstGeom>
          <a:noFill/>
          <a:ln/>
        </p:spPr>
        <p:txBody>
          <a:bodyPr wrap="square" rtlCol="0" anchor="ctr"/>
          <a:lstStyle/>
          <a:p>
            <a:pPr indent="0" marL="0">
              <a:lnSpc>
                <a:spcPct val="100000"/>
              </a:lnSpc>
              <a:buNone/>
            </a:pPr>
            <a:r>
              <a:rPr lang="en-US" sz="1300" dirty="0">
                <a:solidFill>
                  <a:srgbClr val="5C6B7E"/>
                </a:solidFill>
                <a:latin typeface="Calibri" pitchFamily="34" charset="0"/>
                <a:ea typeface="Calibri" pitchFamily="34" charset="-122"/>
                <a:cs typeface="Calibri" pitchFamily="34" charset="-120"/>
              </a:rPr>
              <a:t>A sourced number a manager can act on, or defend in a CERC tariff petition.</a:t>
            </a:r>
            <a:endParaRPr lang="en-US" sz="1300" dirty="0"/>
          </a:p>
        </p:txBody>
      </p:sp>
      <p:sp>
        <p:nvSpPr>
          <p:cNvPr id="13" name="Shape 11"/>
          <p:cNvSpPr/>
          <p:nvPr/>
        </p:nvSpPr>
        <p:spPr>
          <a:xfrm>
            <a:off x="566928" y="3566160"/>
            <a:ext cx="1051560" cy="713232"/>
          </a:xfrm>
          <a:prstGeom prst="roundRect">
            <a:avLst>
              <a:gd name="adj" fmla="val 7692"/>
            </a:avLst>
          </a:prstGeom>
          <a:solidFill>
            <a:srgbClr val="0E1E33"/>
          </a:solidFill>
          <a:ln/>
        </p:spPr>
      </p:sp>
      <p:sp>
        <p:nvSpPr>
          <p:cNvPr id="14" name="Text 12"/>
          <p:cNvSpPr/>
          <p:nvPr/>
        </p:nvSpPr>
        <p:spPr>
          <a:xfrm>
            <a:off x="566928" y="3566160"/>
            <a:ext cx="1051560" cy="713232"/>
          </a:xfrm>
          <a:prstGeom prst="rect">
            <a:avLst/>
          </a:prstGeom>
          <a:noFill/>
          <a:ln/>
        </p:spPr>
        <p:txBody>
          <a:bodyPr wrap="square" rtlCol="0" anchor="ctr"/>
          <a:lstStyle/>
          <a:p>
            <a:pPr algn="ctr" indent="0" marL="0">
              <a:buNone/>
            </a:pPr>
            <a:r>
              <a:rPr lang="en-US" sz="2000" b="1" dirty="0">
                <a:solidFill>
                  <a:srgbClr val="F2A65A"/>
                </a:solidFill>
                <a:latin typeface="Cambria" pitchFamily="34" charset="0"/>
                <a:ea typeface="Cambria" pitchFamily="34" charset="-122"/>
                <a:cs typeface="Cambria" pitchFamily="34" charset="-120"/>
              </a:rPr>
              <a:t>20%</a:t>
            </a:r>
            <a:endParaRPr lang="en-US" sz="2000" dirty="0"/>
          </a:p>
        </p:txBody>
      </p:sp>
      <p:sp>
        <p:nvSpPr>
          <p:cNvPr id="15" name="Text 13"/>
          <p:cNvSpPr/>
          <p:nvPr/>
        </p:nvSpPr>
        <p:spPr>
          <a:xfrm>
            <a:off x="1783080" y="3593592"/>
            <a:ext cx="2926080" cy="658368"/>
          </a:xfrm>
          <a:prstGeom prst="rect">
            <a:avLst/>
          </a:prstGeom>
          <a:noFill/>
          <a:ln/>
        </p:spPr>
        <p:txBody>
          <a:bodyPr wrap="square" rtlCol="0" anchor="ctr"/>
          <a:lstStyle/>
          <a:p>
            <a:pPr indent="0" marL="0">
              <a:buNone/>
            </a:pPr>
            <a:r>
              <a:rPr lang="en-US" sz="1550" b="1" dirty="0">
                <a:solidFill>
                  <a:srgbClr val="16283F"/>
                </a:solidFill>
                <a:latin typeface="Calibri" pitchFamily="34" charset="0"/>
                <a:ea typeface="Calibri" pitchFamily="34" charset="-122"/>
                <a:cs typeface="Calibri" pitchFamily="34" charset="-120"/>
              </a:rPr>
              <a:t>Technical Excellence</a:t>
            </a:r>
            <a:endParaRPr lang="en-US" sz="1550" dirty="0"/>
          </a:p>
        </p:txBody>
      </p:sp>
      <p:sp>
        <p:nvSpPr>
          <p:cNvPr id="16" name="Text 14"/>
          <p:cNvSpPr/>
          <p:nvPr/>
        </p:nvSpPr>
        <p:spPr>
          <a:xfrm>
            <a:off x="4846320" y="3593592"/>
            <a:ext cx="6766560" cy="676656"/>
          </a:xfrm>
          <a:prstGeom prst="rect">
            <a:avLst/>
          </a:prstGeom>
          <a:noFill/>
          <a:ln/>
        </p:spPr>
        <p:txBody>
          <a:bodyPr wrap="square" rtlCol="0" anchor="ctr"/>
          <a:lstStyle/>
          <a:p>
            <a:pPr indent="0" marL="0">
              <a:lnSpc>
                <a:spcPct val="100000"/>
              </a:lnSpc>
              <a:buNone/>
            </a:pPr>
            <a:r>
              <a:rPr lang="en-US" sz="1300" dirty="0">
                <a:solidFill>
                  <a:srgbClr val="5C6B7E"/>
                </a:solidFill>
                <a:latin typeface="Calibri" pitchFamily="34" charset="0"/>
                <a:ea typeface="Calibri" pitchFamily="34" charset="-122"/>
                <a:cs typeface="Calibri" pitchFamily="34" charset="-120"/>
              </a:rPr>
              <a:t>4-stage LLM fallback cascade + agentic tool-calling over vectors, registry, and outage data.</a:t>
            </a:r>
            <a:endParaRPr lang="en-US" sz="1300" dirty="0"/>
          </a:p>
        </p:txBody>
      </p:sp>
      <p:sp>
        <p:nvSpPr>
          <p:cNvPr id="17" name="Shape 15"/>
          <p:cNvSpPr/>
          <p:nvPr/>
        </p:nvSpPr>
        <p:spPr>
          <a:xfrm>
            <a:off x="566928" y="4480560"/>
            <a:ext cx="1051560" cy="713232"/>
          </a:xfrm>
          <a:prstGeom prst="roundRect">
            <a:avLst>
              <a:gd name="adj" fmla="val 7692"/>
            </a:avLst>
          </a:prstGeom>
          <a:solidFill>
            <a:srgbClr val="0E1E33"/>
          </a:solidFill>
          <a:ln/>
        </p:spPr>
      </p:sp>
      <p:sp>
        <p:nvSpPr>
          <p:cNvPr id="18" name="Text 16"/>
          <p:cNvSpPr/>
          <p:nvPr/>
        </p:nvSpPr>
        <p:spPr>
          <a:xfrm>
            <a:off x="566928" y="4480560"/>
            <a:ext cx="1051560" cy="713232"/>
          </a:xfrm>
          <a:prstGeom prst="rect">
            <a:avLst/>
          </a:prstGeom>
          <a:noFill/>
          <a:ln/>
        </p:spPr>
        <p:txBody>
          <a:bodyPr wrap="square" rtlCol="0" anchor="ctr"/>
          <a:lstStyle/>
          <a:p>
            <a:pPr algn="ctr" indent="0" marL="0">
              <a:buNone/>
            </a:pPr>
            <a:r>
              <a:rPr lang="en-US" sz="2000" b="1" dirty="0">
                <a:solidFill>
                  <a:srgbClr val="F2A65A"/>
                </a:solidFill>
                <a:latin typeface="Cambria" pitchFamily="34" charset="0"/>
                <a:ea typeface="Cambria" pitchFamily="34" charset="-122"/>
                <a:cs typeface="Cambria" pitchFamily="34" charset="-120"/>
              </a:rPr>
              <a:t>15%</a:t>
            </a:r>
            <a:endParaRPr lang="en-US" sz="2000" dirty="0"/>
          </a:p>
        </p:txBody>
      </p:sp>
      <p:sp>
        <p:nvSpPr>
          <p:cNvPr id="19" name="Text 17"/>
          <p:cNvSpPr/>
          <p:nvPr/>
        </p:nvSpPr>
        <p:spPr>
          <a:xfrm>
            <a:off x="1783080" y="4507992"/>
            <a:ext cx="2926080" cy="658368"/>
          </a:xfrm>
          <a:prstGeom prst="rect">
            <a:avLst/>
          </a:prstGeom>
          <a:noFill/>
          <a:ln/>
        </p:spPr>
        <p:txBody>
          <a:bodyPr wrap="square" rtlCol="0" anchor="ctr"/>
          <a:lstStyle/>
          <a:p>
            <a:pPr indent="0" marL="0">
              <a:buNone/>
            </a:pPr>
            <a:r>
              <a:rPr lang="en-US" sz="1550" b="1" dirty="0">
                <a:solidFill>
                  <a:srgbClr val="16283F"/>
                </a:solidFill>
                <a:latin typeface="Calibri" pitchFamily="34" charset="0"/>
                <a:ea typeface="Calibri" pitchFamily="34" charset="-122"/>
                <a:cs typeface="Calibri" pitchFamily="34" charset="-120"/>
              </a:rPr>
              <a:t>Scalability</a:t>
            </a:r>
            <a:endParaRPr lang="en-US" sz="1550" dirty="0"/>
          </a:p>
        </p:txBody>
      </p:sp>
      <p:sp>
        <p:nvSpPr>
          <p:cNvPr id="20" name="Text 18"/>
          <p:cNvSpPr/>
          <p:nvPr/>
        </p:nvSpPr>
        <p:spPr>
          <a:xfrm>
            <a:off x="4846320" y="4507992"/>
            <a:ext cx="6766560" cy="676656"/>
          </a:xfrm>
          <a:prstGeom prst="rect">
            <a:avLst/>
          </a:prstGeom>
          <a:noFill/>
          <a:ln/>
        </p:spPr>
        <p:txBody>
          <a:bodyPr wrap="square" rtlCol="0" anchor="ctr"/>
          <a:lstStyle/>
          <a:p>
            <a:pPr indent="0" marL="0">
              <a:lnSpc>
                <a:spcPct val="100000"/>
              </a:lnSpc>
              <a:buNone/>
            </a:pPr>
            <a:r>
              <a:rPr lang="en-US" sz="1300" dirty="0">
                <a:solidFill>
                  <a:srgbClr val="5C6B7E"/>
                </a:solidFill>
                <a:latin typeface="Calibri" pitchFamily="34" charset="0"/>
                <a:ea typeface="Calibri" pitchFamily="34" charset="-122"/>
                <a:cs typeface="Calibri" pitchFamily="34" charset="-120"/>
              </a:rPr>
              <a:t>Per-plant namespacing; CEA benchmark vs client corpus scales to any plant, zero re-engineering.</a:t>
            </a:r>
            <a:endParaRPr lang="en-US" sz="1300" dirty="0"/>
          </a:p>
        </p:txBody>
      </p:sp>
      <p:sp>
        <p:nvSpPr>
          <p:cNvPr id="21" name="Shape 19"/>
          <p:cNvSpPr/>
          <p:nvPr/>
        </p:nvSpPr>
        <p:spPr>
          <a:xfrm>
            <a:off x="566928" y="5394960"/>
            <a:ext cx="1051560" cy="713232"/>
          </a:xfrm>
          <a:prstGeom prst="roundRect">
            <a:avLst>
              <a:gd name="adj" fmla="val 7692"/>
            </a:avLst>
          </a:prstGeom>
          <a:solidFill>
            <a:srgbClr val="0E1E33"/>
          </a:solidFill>
          <a:ln/>
        </p:spPr>
      </p:sp>
      <p:sp>
        <p:nvSpPr>
          <p:cNvPr id="22" name="Text 20"/>
          <p:cNvSpPr/>
          <p:nvPr/>
        </p:nvSpPr>
        <p:spPr>
          <a:xfrm>
            <a:off x="566928" y="5394960"/>
            <a:ext cx="1051560" cy="713232"/>
          </a:xfrm>
          <a:prstGeom prst="rect">
            <a:avLst/>
          </a:prstGeom>
          <a:noFill/>
          <a:ln/>
        </p:spPr>
        <p:txBody>
          <a:bodyPr wrap="square" rtlCol="0" anchor="ctr"/>
          <a:lstStyle/>
          <a:p>
            <a:pPr algn="ctr" indent="0" marL="0">
              <a:buNone/>
            </a:pPr>
            <a:r>
              <a:rPr lang="en-US" sz="2000" b="1" dirty="0">
                <a:solidFill>
                  <a:srgbClr val="F2A65A"/>
                </a:solidFill>
                <a:latin typeface="Cambria" pitchFamily="34" charset="0"/>
                <a:ea typeface="Cambria" pitchFamily="34" charset="-122"/>
                <a:cs typeface="Cambria" pitchFamily="34" charset="-120"/>
              </a:rPr>
              <a:t>15%</a:t>
            </a:r>
            <a:endParaRPr lang="en-US" sz="2000" dirty="0"/>
          </a:p>
        </p:txBody>
      </p:sp>
      <p:sp>
        <p:nvSpPr>
          <p:cNvPr id="23" name="Text 21"/>
          <p:cNvSpPr/>
          <p:nvPr/>
        </p:nvSpPr>
        <p:spPr>
          <a:xfrm>
            <a:off x="1783080" y="5422392"/>
            <a:ext cx="2926080" cy="658368"/>
          </a:xfrm>
          <a:prstGeom prst="rect">
            <a:avLst/>
          </a:prstGeom>
          <a:noFill/>
          <a:ln/>
        </p:spPr>
        <p:txBody>
          <a:bodyPr wrap="square" rtlCol="0" anchor="ctr"/>
          <a:lstStyle/>
          <a:p>
            <a:pPr indent="0" marL="0">
              <a:buNone/>
            </a:pPr>
            <a:r>
              <a:rPr lang="en-US" sz="1550" b="1" dirty="0">
                <a:solidFill>
                  <a:srgbClr val="16283F"/>
                </a:solidFill>
                <a:latin typeface="Calibri" pitchFamily="34" charset="0"/>
                <a:ea typeface="Calibri" pitchFamily="34" charset="-122"/>
                <a:cs typeface="Calibri" pitchFamily="34" charset="-120"/>
              </a:rPr>
              <a:t>User Experience</a:t>
            </a:r>
            <a:endParaRPr lang="en-US" sz="1550" dirty="0"/>
          </a:p>
        </p:txBody>
      </p:sp>
      <p:sp>
        <p:nvSpPr>
          <p:cNvPr id="24" name="Text 22"/>
          <p:cNvSpPr/>
          <p:nvPr/>
        </p:nvSpPr>
        <p:spPr>
          <a:xfrm>
            <a:off x="4846320" y="5422392"/>
            <a:ext cx="6766560" cy="676656"/>
          </a:xfrm>
          <a:prstGeom prst="rect">
            <a:avLst/>
          </a:prstGeom>
          <a:noFill/>
          <a:ln/>
        </p:spPr>
        <p:txBody>
          <a:bodyPr wrap="square" rtlCol="0" anchor="ctr"/>
          <a:lstStyle/>
          <a:p>
            <a:pPr indent="0" marL="0">
              <a:lnSpc>
                <a:spcPct val="100000"/>
              </a:lnSpc>
              <a:buNone/>
            </a:pPr>
            <a:r>
              <a:rPr lang="en-US" sz="1300" dirty="0">
                <a:solidFill>
                  <a:srgbClr val="5C6B7E"/>
                </a:solidFill>
                <a:latin typeface="Calibri" pitchFamily="34" charset="0"/>
                <a:ea typeface="Calibri" pitchFamily="34" charset="-122"/>
                <a:cs typeface="Calibri" pitchFamily="34" charset="-120"/>
              </a:rPr>
              <a:t>Cited answers, click-through graph, one-click themed Excel export.</a:t>
            </a:r>
            <a:endParaRPr lang="en-US" sz="1300" dirty="0"/>
          </a:p>
        </p:txBody>
      </p:sp>
      <p:sp>
        <p:nvSpPr>
          <p:cNvPr id="25" name="Text 23"/>
          <p:cNvSpPr/>
          <p:nvPr/>
        </p:nvSpPr>
        <p:spPr>
          <a:xfrm>
            <a:off x="9966960" y="6455664"/>
            <a:ext cx="1828800" cy="274320"/>
          </a:xfrm>
          <a:prstGeom prst="rect">
            <a:avLst/>
          </a:prstGeom>
          <a:noFill/>
          <a:ln/>
        </p:spPr>
        <p:txBody>
          <a:bodyPr wrap="square"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09 · ThermIQ</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128016" cy="384048"/>
          </a:xfrm>
          <a:prstGeom prst="rect">
            <a:avLst/>
          </a:prstGeom>
          <a:solidFill>
            <a:srgbClr val="E4843A"/>
          </a:solidFill>
          <a:ln/>
        </p:spPr>
      </p:sp>
      <p:sp>
        <p:nvSpPr>
          <p:cNvPr id="3" name="Text 1"/>
          <p:cNvSpPr/>
          <p:nvPr/>
        </p:nvSpPr>
        <p:spPr>
          <a:xfrm>
            <a:off x="804672" y="493776"/>
            <a:ext cx="10607040" cy="256032"/>
          </a:xfrm>
          <a:prstGeom prst="rect">
            <a:avLst/>
          </a:prstGeom>
          <a:noFill/>
          <a:ln/>
        </p:spPr>
        <p:txBody>
          <a:bodyPr wrap="square" rtlCol="0" anchor="ctr"/>
          <a:lstStyle/>
          <a:p>
            <a:pPr indent="0" marL="0">
              <a:buNone/>
            </a:pPr>
            <a:r>
              <a:rPr lang="en-US" sz="1200" b="1" spc="200" kern="0" dirty="0">
                <a:solidFill>
                  <a:srgbClr val="E4843A"/>
                </a:solidFill>
                <a:latin typeface="Calibri" pitchFamily="34" charset="0"/>
                <a:ea typeface="Calibri" pitchFamily="34" charset="-122"/>
                <a:cs typeface="Calibri" pitchFamily="34" charset="-120"/>
              </a:rPr>
              <a:t>HONEST STATUS</a:t>
            </a:r>
            <a:endParaRPr lang="en-US" sz="1200" dirty="0"/>
          </a:p>
        </p:txBody>
      </p:sp>
      <p:sp>
        <p:nvSpPr>
          <p:cNvPr id="4" name="Text 2"/>
          <p:cNvSpPr/>
          <p:nvPr/>
        </p:nvSpPr>
        <p:spPr>
          <a:xfrm>
            <a:off x="786384" y="731520"/>
            <a:ext cx="10789920" cy="658368"/>
          </a:xfrm>
          <a:prstGeom prst="rect">
            <a:avLst/>
          </a:prstGeom>
          <a:noFill/>
          <a:ln/>
        </p:spPr>
        <p:txBody>
          <a:bodyPr wrap="square" rtlCol="0" anchor="ctr"/>
          <a:lstStyle/>
          <a:p>
            <a:pPr indent="0" marL="0">
              <a:buNone/>
            </a:pPr>
            <a:r>
              <a:rPr lang="en-US" sz="3000" b="1" dirty="0">
                <a:solidFill>
                  <a:srgbClr val="16283F"/>
                </a:solidFill>
                <a:latin typeface="Cambria" pitchFamily="34" charset="0"/>
                <a:ea typeface="Cambria" pitchFamily="34" charset="-122"/>
                <a:cs typeface="Cambria" pitchFamily="34" charset="-120"/>
              </a:rPr>
              <a:t>What’s real today, and what isn’t</a:t>
            </a:r>
            <a:endParaRPr lang="en-US" sz="3000" dirty="0"/>
          </a:p>
        </p:txBody>
      </p:sp>
      <p:sp>
        <p:nvSpPr>
          <p:cNvPr id="5" name="Shape 3"/>
          <p:cNvSpPr/>
          <p:nvPr/>
        </p:nvSpPr>
        <p:spPr>
          <a:xfrm>
            <a:off x="566928" y="1691640"/>
            <a:ext cx="5394960" cy="4480560"/>
          </a:xfrm>
          <a:prstGeom prst="roundRect">
            <a:avLst>
              <a:gd name="adj" fmla="val 1633"/>
            </a:avLst>
          </a:prstGeom>
          <a:solidFill>
            <a:srgbClr val="EEF2F7"/>
          </a:solidFill>
          <a:ln w="12700">
            <a:solidFill>
              <a:srgbClr val="D5DEE8"/>
            </a:solidFill>
            <a:prstDash val="solid"/>
          </a:ln>
        </p:spPr>
      </p:sp>
      <p:sp>
        <p:nvSpPr>
          <p:cNvPr id="6" name="Text 4"/>
          <p:cNvSpPr/>
          <p:nvPr/>
        </p:nvSpPr>
        <p:spPr>
          <a:xfrm>
            <a:off x="841248" y="1874520"/>
            <a:ext cx="4846320" cy="365760"/>
          </a:xfrm>
          <a:prstGeom prst="rect">
            <a:avLst/>
          </a:prstGeom>
          <a:noFill/>
          <a:ln/>
        </p:spPr>
        <p:txBody>
          <a:bodyPr wrap="square" rtlCol="0" anchor="ctr"/>
          <a:lstStyle/>
          <a:p>
            <a:pPr indent="0" marL="0">
              <a:buNone/>
            </a:pPr>
            <a:r>
              <a:rPr lang="en-US" sz="1700" dirty="0">
                <a:solidFill>
                  <a:srgbClr val="4E7A52"/>
                </a:solidFill>
                <a:latin typeface="Calibri" pitchFamily="34" charset="0"/>
                <a:ea typeface="Calibri" pitchFamily="34" charset="-122"/>
                <a:cs typeface="Calibri" pitchFamily="34" charset="-120"/>
              </a:rPr>
              <a:t>● </a:t>
            </a:r>
            <a:pPr indent="0" marL="0">
              <a:buNone/>
            </a:pPr>
            <a:r>
              <a:rPr lang="en-US" sz="1700" b="1" dirty="0">
                <a:solidFill>
                  <a:srgbClr val="16283F"/>
                </a:solidFill>
                <a:latin typeface="Calibri" pitchFamily="34" charset="0"/>
                <a:ea typeface="Calibri" pitchFamily="34" charset="-122"/>
                <a:cs typeface="Calibri" pitchFamily="34" charset="-120"/>
              </a:rPr>
              <a:t>Live today</a:t>
            </a:r>
            <a:endParaRPr lang="en-US" sz="1700" dirty="0"/>
          </a:p>
        </p:txBody>
      </p:sp>
      <p:sp>
        <p:nvSpPr>
          <p:cNvPr id="7" name="Text 5"/>
          <p:cNvSpPr/>
          <p:nvPr/>
        </p:nvSpPr>
        <p:spPr>
          <a:xfrm>
            <a:off x="896112" y="2331720"/>
            <a:ext cx="4754880" cy="3657600"/>
          </a:xfrm>
          <a:prstGeom prst="rect">
            <a:avLst/>
          </a:prstGeom>
          <a:noFill/>
          <a:ln/>
        </p:spPr>
        <p:txBody>
          <a:bodyPr wrap="square" rtlCol="0" anchor="ctr"/>
          <a:lstStyle/>
          <a:p>
            <a:pPr marL="177800" indent="-177800">
              <a:spcAft>
                <a:spcPts val="600"/>
              </a:spcAft>
              <a:buSzPct val="100000"/>
              <a:buChar char="•"/>
            </a:pPr>
            <a:r>
              <a:rPr lang="en-US" sz="1350" dirty="0">
                <a:solidFill>
                  <a:srgbClr val="16283F"/>
                </a:solidFill>
                <a:latin typeface="Calibri" pitchFamily="34" charset="0"/>
                <a:ea typeface="Calibri" pitchFamily="34" charset="-122"/>
                <a:cs typeface="Calibri" pitchFamily="34" charset="-120"/>
              </a:rPr>
              <a:t>SPA with 5 working views</a:t>
            </a:r>
            <a:endParaRPr lang="en-US" sz="1350" dirty="0"/>
          </a:p>
          <a:p>
            <a:pPr marL="177800" indent="-177800">
              <a:spcAft>
                <a:spcPts val="600"/>
              </a:spcAft>
              <a:buSzPct val="100000"/>
              <a:buChar char="•"/>
            </a:pPr>
            <a:r>
              <a:rPr lang="en-US" sz="1350" dirty="0">
                <a:solidFill>
                  <a:srgbClr val="16283F"/>
                </a:solidFill>
                <a:latin typeface="Calibri" pitchFamily="34" charset="0"/>
                <a:ea typeface="Calibri" pitchFamily="34" charset="-122"/>
                <a:cs typeface="Calibri" pitchFamily="34" charset="-120"/>
              </a:rPr>
              <a:t>RAG copilot with citations</a:t>
            </a:r>
            <a:endParaRPr lang="en-US" sz="1350" dirty="0"/>
          </a:p>
          <a:p>
            <a:pPr marL="177800" indent="-177800">
              <a:spcAft>
                <a:spcPts val="600"/>
              </a:spcAft>
              <a:buSzPct val="100000"/>
              <a:buChar char="•"/>
            </a:pPr>
            <a:r>
              <a:rPr lang="en-US" sz="1350" dirty="0">
                <a:solidFill>
                  <a:srgbClr val="16283F"/>
                </a:solidFill>
                <a:latin typeface="Calibri" pitchFamily="34" charset="0"/>
                <a:ea typeface="Calibri" pitchFamily="34" charset="-122"/>
                <a:cs typeface="Calibri" pitchFamily="34" charset="-120"/>
              </a:rPr>
              <a:t>19-item gap engine → ₹416.4 Cr on NTPC</a:t>
            </a:r>
            <a:endParaRPr lang="en-US" sz="1350" dirty="0"/>
          </a:p>
          <a:p>
            <a:pPr marL="177800" indent="-177800">
              <a:spcAft>
                <a:spcPts val="600"/>
              </a:spcAft>
              <a:buSzPct val="100000"/>
              <a:buChar char="•"/>
            </a:pPr>
            <a:r>
              <a:rPr lang="en-US" sz="1350" dirty="0">
                <a:solidFill>
                  <a:srgbClr val="16283F"/>
                </a:solidFill>
                <a:latin typeface="Calibri" pitchFamily="34" charset="0"/>
                <a:ea typeface="Calibri" pitchFamily="34" charset="-122"/>
                <a:cs typeface="Calibri" pitchFamily="34" charset="-120"/>
              </a:rPr>
              <a:t>Neo4j graph with click-through traversal</a:t>
            </a:r>
            <a:endParaRPr lang="en-US" sz="1350" dirty="0"/>
          </a:p>
          <a:p>
            <a:pPr marL="177800" indent="-177800">
              <a:spcAft>
                <a:spcPts val="600"/>
              </a:spcAft>
              <a:buSzPct val="100000"/>
              <a:buChar char="•"/>
            </a:pPr>
            <a:r>
              <a:rPr lang="en-US" sz="1350" dirty="0">
                <a:solidFill>
                  <a:srgbClr val="16283F"/>
                </a:solidFill>
                <a:latin typeface="Calibri" pitchFamily="34" charset="0"/>
                <a:ea typeface="Calibri" pitchFamily="34" charset="-122"/>
                <a:cs typeface="Calibri" pitchFamily="34" charset="-120"/>
              </a:rPr>
              <a:t>Per-plant document namespacing</a:t>
            </a:r>
            <a:endParaRPr lang="en-US" sz="1350" dirty="0"/>
          </a:p>
          <a:p>
            <a:pPr marL="177800" indent="-177800">
              <a:spcAft>
                <a:spcPts val="600"/>
              </a:spcAft>
              <a:buSzPct val="100000"/>
              <a:buChar char="•"/>
            </a:pPr>
            <a:r>
              <a:rPr lang="en-US" sz="1350" dirty="0">
                <a:solidFill>
                  <a:srgbClr val="16283F"/>
                </a:solidFill>
                <a:latin typeface="Calibri" pitchFamily="34" charset="0"/>
                <a:ea typeface="Calibri" pitchFamily="34" charset="-122"/>
                <a:cs typeface="Calibri" pitchFamily="34" charset="-120"/>
              </a:rPr>
              <a:t>Themed one-click Excel export</a:t>
            </a:r>
            <a:endParaRPr lang="en-US" sz="1350" dirty="0"/>
          </a:p>
          <a:p>
            <a:pPr marL="177800" indent="-177800">
              <a:spcAft>
                <a:spcPts val="600"/>
              </a:spcAft>
              <a:buSzPct val="100000"/>
              <a:buChar char="•"/>
            </a:pPr>
            <a:r>
              <a:rPr lang="en-US" sz="1350" dirty="0">
                <a:solidFill>
                  <a:srgbClr val="16283F"/>
                </a:solidFill>
                <a:latin typeface="Calibri" pitchFamily="34" charset="0"/>
                <a:ea typeface="Calibri" pitchFamily="34" charset="-122"/>
                <a:cs typeface="Calibri" pitchFamily="34" charset="-120"/>
              </a:rPr>
              <a:t>Automated CEA-ingest + gap-scan pipelines</a:t>
            </a:r>
            <a:endParaRPr lang="en-US" sz="1350" dirty="0"/>
          </a:p>
        </p:txBody>
      </p:sp>
      <p:sp>
        <p:nvSpPr>
          <p:cNvPr id="8" name="Shape 6"/>
          <p:cNvSpPr/>
          <p:nvPr/>
        </p:nvSpPr>
        <p:spPr>
          <a:xfrm>
            <a:off x="6236208" y="1691640"/>
            <a:ext cx="5394960" cy="4480560"/>
          </a:xfrm>
          <a:prstGeom prst="roundRect">
            <a:avLst>
              <a:gd name="adj" fmla="val 1633"/>
            </a:avLst>
          </a:prstGeom>
          <a:solidFill>
            <a:srgbClr val="FFFFFF"/>
          </a:solidFill>
          <a:ln w="15240">
            <a:solidFill>
              <a:srgbClr val="E4843A"/>
            </a:solidFill>
            <a:prstDash val="solid"/>
          </a:ln>
        </p:spPr>
      </p:sp>
      <p:sp>
        <p:nvSpPr>
          <p:cNvPr id="9" name="Text 7"/>
          <p:cNvSpPr/>
          <p:nvPr/>
        </p:nvSpPr>
        <p:spPr>
          <a:xfrm>
            <a:off x="6510528" y="1874520"/>
            <a:ext cx="4846320" cy="365760"/>
          </a:xfrm>
          <a:prstGeom prst="rect">
            <a:avLst/>
          </a:prstGeom>
          <a:noFill/>
          <a:ln/>
        </p:spPr>
        <p:txBody>
          <a:bodyPr wrap="square" rtlCol="0" anchor="ctr"/>
          <a:lstStyle/>
          <a:p>
            <a:pPr indent="0" marL="0">
              <a:buNone/>
            </a:pPr>
            <a:r>
              <a:rPr lang="en-US" sz="1700" dirty="0">
                <a:solidFill>
                  <a:srgbClr val="E4843A"/>
                </a:solidFill>
                <a:latin typeface="Calibri" pitchFamily="34" charset="0"/>
                <a:ea typeface="Calibri" pitchFamily="34" charset="-122"/>
                <a:cs typeface="Calibri" pitchFamily="34" charset="-120"/>
              </a:rPr>
              <a:t>▲ </a:t>
            </a:r>
            <a:pPr indent="0" marL="0">
              <a:buNone/>
            </a:pPr>
            <a:r>
              <a:rPr lang="en-US" sz="1700" b="1" dirty="0">
                <a:solidFill>
                  <a:srgbClr val="16283F"/>
                </a:solidFill>
                <a:latin typeface="Calibri" pitchFamily="34" charset="0"/>
                <a:ea typeface="Calibri" pitchFamily="34" charset="-122"/>
                <a:cs typeface="Calibri" pitchFamily="34" charset="-120"/>
              </a:rPr>
              <a:t>Known limitations</a:t>
            </a:r>
            <a:endParaRPr lang="en-US" sz="1700" dirty="0"/>
          </a:p>
        </p:txBody>
      </p:sp>
      <p:sp>
        <p:nvSpPr>
          <p:cNvPr id="10" name="Text 8"/>
          <p:cNvSpPr/>
          <p:nvPr/>
        </p:nvSpPr>
        <p:spPr>
          <a:xfrm>
            <a:off x="6510528" y="2377440"/>
            <a:ext cx="4892040" cy="310896"/>
          </a:xfrm>
          <a:prstGeom prst="rect">
            <a:avLst/>
          </a:prstGeom>
          <a:noFill/>
          <a:ln/>
        </p:spPr>
        <p:txBody>
          <a:bodyPr wrap="square" rtlCol="0" anchor="ctr"/>
          <a:lstStyle/>
          <a:p>
            <a:pPr indent="0" marL="0">
              <a:buNone/>
            </a:pPr>
            <a:r>
              <a:rPr lang="en-US" sz="1350" b="1" dirty="0">
                <a:solidFill>
                  <a:srgbClr val="16283F"/>
                </a:solidFill>
                <a:latin typeface="Calibri" pitchFamily="34" charset="0"/>
                <a:ea typeface="Calibri" pitchFamily="34" charset="-122"/>
                <a:cs typeface="Calibri" pitchFamily="34" charset="-120"/>
              </a:rPr>
              <a:t>BMD-01 spec not ingested</a:t>
            </a:r>
            <a:endParaRPr lang="en-US" sz="1350" dirty="0"/>
          </a:p>
        </p:txBody>
      </p:sp>
      <p:sp>
        <p:nvSpPr>
          <p:cNvPr id="11" name="Text 9"/>
          <p:cNvSpPr/>
          <p:nvPr/>
        </p:nvSpPr>
        <p:spPr>
          <a:xfrm>
            <a:off x="6510528" y="2660904"/>
            <a:ext cx="4892040" cy="384048"/>
          </a:xfrm>
          <a:prstGeom prst="rect">
            <a:avLst/>
          </a:prstGeom>
          <a:noFill/>
          <a:ln/>
        </p:spPr>
        <p:txBody>
          <a:bodyPr wrap="square" rtlCol="0" anchor="ctr"/>
          <a:lstStyle/>
          <a:p>
            <a:pPr indent="0" marL="0">
              <a:buNone/>
            </a:pPr>
            <a:r>
              <a:rPr lang="en-US" sz="1150" i="1" dirty="0">
                <a:solidFill>
                  <a:srgbClr val="5C6B7E"/>
                </a:solidFill>
                <a:latin typeface="Calibri" pitchFamily="34" charset="0"/>
                <a:ea typeface="Calibri" pitchFamily="34" charset="-122"/>
                <a:cs typeface="Calibri" pitchFamily="34" charset="-120"/>
              </a:rPr>
              <a:t>vendor host unreachable from the build network</a:t>
            </a:r>
            <a:endParaRPr lang="en-US" sz="1150" dirty="0"/>
          </a:p>
        </p:txBody>
      </p:sp>
      <p:sp>
        <p:nvSpPr>
          <p:cNvPr id="12" name="Text 10"/>
          <p:cNvSpPr/>
          <p:nvPr/>
        </p:nvSpPr>
        <p:spPr>
          <a:xfrm>
            <a:off x="6510528" y="3136392"/>
            <a:ext cx="4892040" cy="310896"/>
          </a:xfrm>
          <a:prstGeom prst="rect">
            <a:avLst/>
          </a:prstGeom>
          <a:noFill/>
          <a:ln/>
        </p:spPr>
        <p:txBody>
          <a:bodyPr wrap="square" rtlCol="0" anchor="ctr"/>
          <a:lstStyle/>
          <a:p>
            <a:pPr indent="0" marL="0">
              <a:buNone/>
            </a:pPr>
            <a:r>
              <a:rPr lang="en-US" sz="1350" b="1" dirty="0">
                <a:solidFill>
                  <a:srgbClr val="16283F"/>
                </a:solidFill>
                <a:latin typeface="Calibri" pitchFamily="34" charset="0"/>
                <a:ea typeface="Calibri" pitchFamily="34" charset="-122"/>
                <a:cs typeface="Calibri" pitchFamily="34" charset="-120"/>
              </a:rPr>
              <a:t>No P&amp;ID computer-vision yet</a:t>
            </a:r>
            <a:endParaRPr lang="en-US" sz="1350" dirty="0"/>
          </a:p>
        </p:txBody>
      </p:sp>
      <p:sp>
        <p:nvSpPr>
          <p:cNvPr id="13" name="Text 11"/>
          <p:cNvSpPr/>
          <p:nvPr/>
        </p:nvSpPr>
        <p:spPr>
          <a:xfrm>
            <a:off x="6510528" y="3419856"/>
            <a:ext cx="4892040" cy="384048"/>
          </a:xfrm>
          <a:prstGeom prst="rect">
            <a:avLst/>
          </a:prstGeom>
          <a:noFill/>
          <a:ln/>
        </p:spPr>
        <p:txBody>
          <a:bodyPr wrap="square" rtlCol="0" anchor="ctr"/>
          <a:lstStyle/>
          <a:p>
            <a:pPr indent="0" marL="0">
              <a:buNone/>
            </a:pPr>
            <a:r>
              <a:rPr lang="en-US" sz="1150" i="1" dirty="0">
                <a:solidFill>
                  <a:srgbClr val="5C6B7E"/>
                </a:solidFill>
                <a:latin typeface="Calibri" pitchFamily="34" charset="0"/>
                <a:ea typeface="Calibri" pitchFamily="34" charset="-122"/>
                <a:cs typeface="Calibri" pitchFamily="34" charset="-120"/>
              </a:rPr>
              <a:t>ingestion is text + OCR only</a:t>
            </a:r>
            <a:endParaRPr lang="en-US" sz="1150" dirty="0"/>
          </a:p>
        </p:txBody>
      </p:sp>
      <p:sp>
        <p:nvSpPr>
          <p:cNvPr id="14" name="Text 12"/>
          <p:cNvSpPr/>
          <p:nvPr/>
        </p:nvSpPr>
        <p:spPr>
          <a:xfrm>
            <a:off x="6510528" y="3895344"/>
            <a:ext cx="4892040" cy="310896"/>
          </a:xfrm>
          <a:prstGeom prst="rect">
            <a:avLst/>
          </a:prstGeom>
          <a:noFill/>
          <a:ln/>
        </p:spPr>
        <p:txBody>
          <a:bodyPr wrap="square" rtlCol="0" anchor="ctr"/>
          <a:lstStyle/>
          <a:p>
            <a:pPr indent="0" marL="0">
              <a:buNone/>
            </a:pPr>
            <a:r>
              <a:rPr lang="en-US" sz="1350" b="1" dirty="0">
                <a:solidFill>
                  <a:srgbClr val="16283F"/>
                </a:solidFill>
                <a:latin typeface="Calibri" pitchFamily="34" charset="0"/>
                <a:ea typeface="Calibri" pitchFamily="34" charset="-122"/>
                <a:cs typeface="Calibri" pitchFamily="34" charset="-120"/>
              </a:rPr>
              <a:t>Vercel free tier caps 12 functions</a:t>
            </a:r>
            <a:endParaRPr lang="en-US" sz="1350" dirty="0"/>
          </a:p>
        </p:txBody>
      </p:sp>
      <p:sp>
        <p:nvSpPr>
          <p:cNvPr id="15" name="Text 13"/>
          <p:cNvSpPr/>
          <p:nvPr/>
        </p:nvSpPr>
        <p:spPr>
          <a:xfrm>
            <a:off x="6510528" y="4178808"/>
            <a:ext cx="4892040" cy="384048"/>
          </a:xfrm>
          <a:prstGeom prst="rect">
            <a:avLst/>
          </a:prstGeom>
          <a:noFill/>
          <a:ln/>
        </p:spPr>
        <p:txBody>
          <a:bodyPr wrap="square" rtlCol="0" anchor="ctr"/>
          <a:lstStyle/>
          <a:p>
            <a:pPr indent="0" marL="0">
              <a:buNone/>
            </a:pPr>
            <a:r>
              <a:rPr lang="en-US" sz="1150" i="1" dirty="0">
                <a:solidFill>
                  <a:srgbClr val="5C6B7E"/>
                </a:solidFill>
                <a:latin typeface="Calibri" pitchFamily="34" charset="0"/>
                <a:ea typeface="Calibri" pitchFamily="34" charset="-122"/>
                <a:cs typeface="Calibri" pitchFamily="34" charset="-120"/>
              </a:rPr>
              <a:t>at the cap; new endpoints need a swap</a:t>
            </a:r>
            <a:endParaRPr lang="en-US" sz="1150" dirty="0"/>
          </a:p>
        </p:txBody>
      </p:sp>
      <p:sp>
        <p:nvSpPr>
          <p:cNvPr id="16" name="Text 14"/>
          <p:cNvSpPr/>
          <p:nvPr/>
        </p:nvSpPr>
        <p:spPr>
          <a:xfrm>
            <a:off x="6510528" y="4654296"/>
            <a:ext cx="4892040" cy="310896"/>
          </a:xfrm>
          <a:prstGeom prst="rect">
            <a:avLst/>
          </a:prstGeom>
          <a:noFill/>
          <a:ln/>
        </p:spPr>
        <p:txBody>
          <a:bodyPr wrap="square" rtlCol="0" anchor="ctr"/>
          <a:lstStyle/>
          <a:p>
            <a:pPr indent="0" marL="0">
              <a:buNone/>
            </a:pPr>
            <a:r>
              <a:rPr lang="en-US" sz="1350" b="1" dirty="0">
                <a:solidFill>
                  <a:srgbClr val="16283F"/>
                </a:solidFill>
                <a:latin typeface="Calibri" pitchFamily="34" charset="0"/>
                <a:ea typeface="Calibri" pitchFamily="34" charset="-122"/>
                <a:cs typeface="Calibri" pitchFamily="34" charset="-120"/>
              </a:rPr>
              <a:t>v4 scoring engine held back</a:t>
            </a:r>
            <a:endParaRPr lang="en-US" sz="1350" dirty="0"/>
          </a:p>
        </p:txBody>
      </p:sp>
      <p:sp>
        <p:nvSpPr>
          <p:cNvPr id="17" name="Text 15"/>
          <p:cNvSpPr/>
          <p:nvPr/>
        </p:nvSpPr>
        <p:spPr>
          <a:xfrm>
            <a:off x="6510528" y="4937760"/>
            <a:ext cx="4892040" cy="384048"/>
          </a:xfrm>
          <a:prstGeom prst="rect">
            <a:avLst/>
          </a:prstGeom>
          <a:noFill/>
          <a:ln/>
        </p:spPr>
        <p:txBody>
          <a:bodyPr wrap="square" rtlCol="0" anchor="ctr"/>
          <a:lstStyle/>
          <a:p>
            <a:pPr indent="0" marL="0">
              <a:buNone/>
            </a:pPr>
            <a:r>
              <a:rPr lang="en-US" sz="1150" i="1" dirty="0">
                <a:solidFill>
                  <a:srgbClr val="5C6B7E"/>
                </a:solidFill>
                <a:latin typeface="Calibri" pitchFamily="34" charset="0"/>
                <a:ea typeface="Calibri" pitchFamily="34" charset="-122"/>
                <a:cs typeface="Calibri" pitchFamily="34" charset="-120"/>
              </a:rPr>
              <a:t>2 outliers need a human check before it ships</a:t>
            </a:r>
            <a:endParaRPr lang="en-US" sz="1150" dirty="0"/>
          </a:p>
        </p:txBody>
      </p:sp>
      <p:sp>
        <p:nvSpPr>
          <p:cNvPr id="18" name="Text 16"/>
          <p:cNvSpPr/>
          <p:nvPr/>
        </p:nvSpPr>
        <p:spPr>
          <a:xfrm>
            <a:off x="6510528" y="5413248"/>
            <a:ext cx="4892040" cy="310896"/>
          </a:xfrm>
          <a:prstGeom prst="rect">
            <a:avLst/>
          </a:prstGeom>
          <a:noFill/>
          <a:ln/>
        </p:spPr>
        <p:txBody>
          <a:bodyPr wrap="square" rtlCol="0" anchor="ctr"/>
          <a:lstStyle/>
          <a:p>
            <a:pPr indent="0" marL="0">
              <a:buNone/>
            </a:pPr>
            <a:r>
              <a:rPr lang="en-US" sz="1350" b="1" dirty="0">
                <a:solidFill>
                  <a:srgbClr val="16283F"/>
                </a:solidFill>
                <a:latin typeface="Calibri" pitchFamily="34" charset="0"/>
                <a:ea typeface="Calibri" pitchFamily="34" charset="-122"/>
                <a:cs typeface="Calibri" pitchFamily="34" charset="-120"/>
              </a:rPr>
              <a:t>No formal expert benchmark yet</a:t>
            </a:r>
            <a:endParaRPr lang="en-US" sz="1350" dirty="0"/>
          </a:p>
        </p:txBody>
      </p:sp>
      <p:sp>
        <p:nvSpPr>
          <p:cNvPr id="19" name="Text 17"/>
          <p:cNvSpPr/>
          <p:nvPr/>
        </p:nvSpPr>
        <p:spPr>
          <a:xfrm>
            <a:off x="6510528" y="5696712"/>
            <a:ext cx="4892040" cy="384048"/>
          </a:xfrm>
          <a:prstGeom prst="rect">
            <a:avLst/>
          </a:prstGeom>
          <a:noFill/>
          <a:ln/>
        </p:spPr>
        <p:txBody>
          <a:bodyPr wrap="square" rtlCol="0" anchor="ctr"/>
          <a:lstStyle/>
          <a:p>
            <a:pPr indent="0" marL="0">
              <a:buNone/>
            </a:pPr>
            <a:r>
              <a:rPr lang="en-US" sz="1150" i="1" dirty="0">
                <a:solidFill>
                  <a:srgbClr val="5C6B7E"/>
                </a:solidFill>
                <a:latin typeface="Calibri" pitchFamily="34" charset="0"/>
                <a:ea typeface="Calibri" pitchFamily="34" charset="-122"/>
                <a:cs typeface="Calibri" pitchFamily="34" charset="-120"/>
              </a:rPr>
              <a:t>live-verified, not independently scored</a:t>
            </a:r>
            <a:endParaRPr lang="en-US" sz="1150" dirty="0"/>
          </a:p>
        </p:txBody>
      </p:sp>
      <p:sp>
        <p:nvSpPr>
          <p:cNvPr id="20" name="Text 18"/>
          <p:cNvSpPr/>
          <p:nvPr/>
        </p:nvSpPr>
        <p:spPr>
          <a:xfrm>
            <a:off x="9966960" y="6455664"/>
            <a:ext cx="1828800" cy="274320"/>
          </a:xfrm>
          <a:prstGeom prst="rect">
            <a:avLst/>
          </a:prstGeom>
          <a:noFill/>
          <a:ln/>
        </p:spPr>
        <p:txBody>
          <a:bodyPr wrap="square"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10 · ThermIQ</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E33"/>
        </a:solidFill>
      </p:bgPr>
    </p:bg>
    <p:spTree>
      <p:nvGrpSpPr>
        <p:cNvPr id="1" name=""/>
        <p:cNvGrpSpPr/>
        <p:nvPr/>
      </p:nvGrpSpPr>
      <p:grpSpPr>
        <a:xfrm>
          <a:off x="0" y="0"/>
          <a:ext cx="0" cy="0"/>
          <a:chOff x="0" y="0"/>
          <a:chExt cx="0" cy="0"/>
        </a:xfrm>
      </p:grpSpPr>
      <p:sp>
        <p:nvSpPr>
          <p:cNvPr id="2" name="Text 0"/>
          <p:cNvSpPr/>
          <p:nvPr/>
        </p:nvSpPr>
        <p:spPr>
          <a:xfrm>
            <a:off x="868680" y="1234440"/>
            <a:ext cx="9144000" cy="9144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Let’s talk</a:t>
            </a:r>
            <a:endParaRPr lang="en-US" sz="4600" dirty="0"/>
          </a:p>
        </p:txBody>
      </p:sp>
      <p:sp>
        <p:nvSpPr>
          <p:cNvPr id="3" name="Text 1"/>
          <p:cNvSpPr/>
          <p:nvPr/>
        </p:nvSpPr>
        <p:spPr>
          <a:xfrm>
            <a:off x="868680" y="2331720"/>
            <a:ext cx="7680960" cy="1371600"/>
          </a:xfrm>
          <a:prstGeom prst="rect">
            <a:avLst/>
          </a:prstGeom>
          <a:noFill/>
          <a:ln/>
        </p:spPr>
        <p:txBody>
          <a:bodyPr wrap="square" rtlCol="0" anchor="ctr"/>
          <a:lstStyle/>
          <a:p>
            <a:pPr indent="0" marL="0">
              <a:lnSpc>
                <a:spcPct val="110000"/>
              </a:lnSpc>
              <a:buNone/>
            </a:pPr>
            <a:r>
              <a:rPr lang="en-US" sz="1800" i="1" dirty="0">
                <a:solidFill>
                  <a:srgbClr val="C9D6E8"/>
                </a:solidFill>
                <a:latin typeface="Cambria" pitchFamily="34" charset="0"/>
                <a:ea typeface="Cambria" pitchFamily="34" charset="-122"/>
                <a:cs typeface="Cambria" pitchFamily="34" charset="-120"/>
              </a:rPr>
              <a:t>A research-preview prototype — built solo, non-engineering background, in under a month, with AI as a development partner. Proof the intelligence layer this brief asks for can be built fast when the framing is right.</a:t>
            </a:r>
            <a:endParaRPr lang="en-US" sz="1800" dirty="0"/>
          </a:p>
        </p:txBody>
      </p:sp>
      <p:sp>
        <p:nvSpPr>
          <p:cNvPr id="4" name="Shape 2"/>
          <p:cNvSpPr/>
          <p:nvPr/>
        </p:nvSpPr>
        <p:spPr>
          <a:xfrm>
            <a:off x="868680" y="4151376"/>
            <a:ext cx="91440" cy="402336"/>
          </a:xfrm>
          <a:prstGeom prst="rect">
            <a:avLst/>
          </a:prstGeom>
          <a:solidFill>
            <a:srgbClr val="E4843A"/>
          </a:solidFill>
          <a:ln/>
        </p:spPr>
      </p:sp>
      <p:sp>
        <p:nvSpPr>
          <p:cNvPr id="5" name="Text 3"/>
          <p:cNvSpPr/>
          <p:nvPr/>
        </p:nvSpPr>
        <p:spPr>
          <a:xfrm>
            <a:off x="1097280" y="4114800"/>
            <a:ext cx="2194560" cy="502920"/>
          </a:xfrm>
          <a:prstGeom prst="rect">
            <a:avLst/>
          </a:prstGeom>
          <a:noFill/>
          <a:ln/>
        </p:spPr>
        <p:txBody>
          <a:bodyPr wrap="square" rtlCol="0" anchor="ctr"/>
          <a:lstStyle/>
          <a:p>
            <a:pPr indent="0" marL="0">
              <a:buNone/>
            </a:pPr>
            <a:r>
              <a:rPr lang="en-US" sz="1500" b="1" dirty="0">
                <a:solidFill>
                  <a:srgbClr val="9FB1C9"/>
                </a:solidFill>
                <a:latin typeface="Calibri" pitchFamily="34" charset="0"/>
                <a:ea typeface="Calibri" pitchFamily="34" charset="-122"/>
                <a:cs typeface="Calibri" pitchFamily="34" charset="-120"/>
              </a:rPr>
              <a:t>Live app</a:t>
            </a:r>
            <a:endParaRPr lang="en-US" sz="1500" dirty="0"/>
          </a:p>
        </p:txBody>
      </p:sp>
      <p:sp>
        <p:nvSpPr>
          <p:cNvPr id="6" name="Text 4"/>
          <p:cNvSpPr/>
          <p:nvPr/>
        </p:nvSpPr>
        <p:spPr>
          <a:xfrm>
            <a:off x="3200400" y="4114800"/>
            <a:ext cx="731520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therm-iq.vercel.app</a:t>
            </a:r>
            <a:endParaRPr lang="en-US" sz="1600" dirty="0"/>
          </a:p>
        </p:txBody>
      </p:sp>
      <p:sp>
        <p:nvSpPr>
          <p:cNvPr id="7" name="Shape 5"/>
          <p:cNvSpPr/>
          <p:nvPr/>
        </p:nvSpPr>
        <p:spPr>
          <a:xfrm>
            <a:off x="868680" y="4791456"/>
            <a:ext cx="91440" cy="402336"/>
          </a:xfrm>
          <a:prstGeom prst="rect">
            <a:avLst/>
          </a:prstGeom>
          <a:solidFill>
            <a:srgbClr val="E4843A"/>
          </a:solidFill>
          <a:ln/>
        </p:spPr>
      </p:sp>
      <p:sp>
        <p:nvSpPr>
          <p:cNvPr id="8" name="Text 6"/>
          <p:cNvSpPr/>
          <p:nvPr/>
        </p:nvSpPr>
        <p:spPr>
          <a:xfrm>
            <a:off x="1097280" y="4754880"/>
            <a:ext cx="2194560" cy="502920"/>
          </a:xfrm>
          <a:prstGeom prst="rect">
            <a:avLst/>
          </a:prstGeom>
          <a:noFill/>
          <a:ln/>
        </p:spPr>
        <p:txBody>
          <a:bodyPr wrap="square" rtlCol="0" anchor="ctr"/>
          <a:lstStyle/>
          <a:p>
            <a:pPr indent="0" marL="0">
              <a:buNone/>
            </a:pPr>
            <a:r>
              <a:rPr lang="en-US" sz="1500" b="1" dirty="0">
                <a:solidFill>
                  <a:srgbClr val="9FB1C9"/>
                </a:solidFill>
                <a:latin typeface="Calibri" pitchFamily="34" charset="0"/>
                <a:ea typeface="Calibri" pitchFamily="34" charset="-122"/>
                <a:cs typeface="Calibri" pitchFamily="34" charset="-120"/>
              </a:rPr>
              <a:t>GitHub</a:t>
            </a:r>
            <a:endParaRPr lang="en-US" sz="1500" dirty="0"/>
          </a:p>
        </p:txBody>
      </p:sp>
      <p:sp>
        <p:nvSpPr>
          <p:cNvPr id="9" name="Text 7"/>
          <p:cNvSpPr/>
          <p:nvPr/>
        </p:nvSpPr>
        <p:spPr>
          <a:xfrm>
            <a:off x="3200400" y="4754880"/>
            <a:ext cx="731520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github.com/GhostUnamused/thermIQ</a:t>
            </a:r>
            <a:endParaRPr lang="en-US" sz="1600" dirty="0"/>
          </a:p>
        </p:txBody>
      </p:sp>
      <p:sp>
        <p:nvSpPr>
          <p:cNvPr id="10" name="Shape 8"/>
          <p:cNvSpPr/>
          <p:nvPr/>
        </p:nvSpPr>
        <p:spPr>
          <a:xfrm>
            <a:off x="868680" y="5431536"/>
            <a:ext cx="91440" cy="402336"/>
          </a:xfrm>
          <a:prstGeom prst="rect">
            <a:avLst/>
          </a:prstGeom>
          <a:solidFill>
            <a:srgbClr val="E4843A"/>
          </a:solidFill>
          <a:ln/>
        </p:spPr>
      </p:sp>
      <p:sp>
        <p:nvSpPr>
          <p:cNvPr id="11" name="Text 9"/>
          <p:cNvSpPr/>
          <p:nvPr/>
        </p:nvSpPr>
        <p:spPr>
          <a:xfrm>
            <a:off x="1097280" y="5394960"/>
            <a:ext cx="2194560" cy="502920"/>
          </a:xfrm>
          <a:prstGeom prst="rect">
            <a:avLst/>
          </a:prstGeom>
          <a:noFill/>
          <a:ln/>
        </p:spPr>
        <p:txBody>
          <a:bodyPr wrap="square" rtlCol="0" anchor="ctr"/>
          <a:lstStyle/>
          <a:p>
            <a:pPr indent="0" marL="0">
              <a:buNone/>
            </a:pPr>
            <a:r>
              <a:rPr lang="en-US" sz="1500" b="1" dirty="0">
                <a:solidFill>
                  <a:srgbClr val="9FB1C9"/>
                </a:solidFill>
                <a:latin typeface="Calibri" pitchFamily="34" charset="0"/>
                <a:ea typeface="Calibri" pitchFamily="34" charset="-122"/>
                <a:cs typeface="Calibri" pitchFamily="34" charset="-120"/>
              </a:rPr>
              <a:t>Built by</a:t>
            </a:r>
            <a:endParaRPr lang="en-US" sz="1500" dirty="0"/>
          </a:p>
        </p:txBody>
      </p:sp>
      <p:sp>
        <p:nvSpPr>
          <p:cNvPr id="12" name="Text 10"/>
          <p:cNvSpPr/>
          <p:nvPr/>
        </p:nvSpPr>
        <p:spPr>
          <a:xfrm>
            <a:off x="3200400" y="5394960"/>
            <a:ext cx="731520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YC · IIM Amritsar (IPM)</a:t>
            </a:r>
            <a:endParaRPr lang="en-US" sz="1600" dirty="0"/>
          </a:p>
        </p:txBody>
      </p:sp>
      <p:sp>
        <p:nvSpPr>
          <p:cNvPr id="13" name="Text 11"/>
          <p:cNvSpPr/>
          <p:nvPr/>
        </p:nvSpPr>
        <p:spPr>
          <a:xfrm>
            <a:off x="868680" y="6172200"/>
            <a:ext cx="10424160" cy="457200"/>
          </a:xfrm>
          <a:prstGeom prst="rect">
            <a:avLst/>
          </a:prstGeom>
          <a:noFill/>
          <a:ln/>
        </p:spPr>
        <p:txBody>
          <a:bodyPr wrap="square" rtlCol="0" anchor="ctr"/>
          <a:lstStyle/>
          <a:p>
            <a:pPr indent="0" marL="0">
              <a:buNone/>
            </a:pPr>
            <a:r>
              <a:rPr lang="en-US" sz="1350" i="1" dirty="0">
                <a:solidFill>
                  <a:srgbClr val="F2A65A"/>
                </a:solidFill>
                <a:latin typeface="Calibri" pitchFamily="34" charset="0"/>
                <a:ea typeface="Calibri" pitchFamily="34" charset="-122"/>
                <a:cs typeface="Calibri" pitchFamily="34" charset="-120"/>
              </a:rPr>
              <a:t>The ask: judges’ feedback, and an introduction to any plant team willing to pilot with their own documents.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2026-07-22T09:00:24Z</dcterms:created>
  <dcterms:modified xsi:type="dcterms:W3CDTF">2026-07-22T09:00:24Z</dcterms:modified>
</cp:coreProperties>
</file>